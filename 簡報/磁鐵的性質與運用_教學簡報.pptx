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ee2ce3d381843fe" /><Relationship Type="http://schemas.openxmlformats.org/package/2006/relationships/metadata/core-properties" Target="/docProps/core.xml" Id="Rf882a3cec0cf42b1" /><Relationship Type="http://schemas.openxmlformats.org/officeDocument/2006/relationships/extended-properties" Target="/docProps/app.xml" Id="R89e69efacf644004" /><Relationship Type="http://schemas.openxmlformats.org/officeDocument/2006/relationships/custom-properties" Target="/docProps/custom.xml" Id="R1e53f1d8409b4c5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4987604b1cb42a7"/>
    <p:sldId id="257" r:id="R7a855878db0545bf"/>
    <p:sldId id="258" r:id="R1499d45931124f8e"/>
    <p:sldId id="259" r:id="R0cfa7a4a5bdd49b2"/>
    <p:sldId id="260" r:id="R5eeff425834c41b0"/>
    <p:sldId id="261" r:id="R387c95dd893341b7"/>
    <p:sldId id="262" r:id="Re2346eb87e4b4880"/>
    <p:sldId id="263" r:id="R7eaf11a67d51472e"/>
    <p:sldId id="264" r:id="R3c166d907288435b"/>
    <p:sldId id="265" r:id="R0e95f3d9c5fd4cc7"/>
    <p:sldId id="266" r:id="R7a832b18279743ca"/>
    <p:sldId id="267" r:id="Rc08600269f15431f"/>
    <p:sldId id="268" r:id="Rfb0ed808b10a4a8b"/>
    <p:sldId id="269" r:id="R62078ec5d6894849"/>
    <p:sldId id="270" r:id="R3ce0a555e3394e7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4987604b1cb42a7" /><Relationship Type="http://schemas.openxmlformats.org/officeDocument/2006/relationships/slide" Target="/ppt/slides/slide2.xml" Id="R7a855878db0545bf" /><Relationship Type="http://schemas.openxmlformats.org/officeDocument/2006/relationships/slide" Target="/ppt/slides/slide3.xml" Id="R1499d45931124f8e" /><Relationship Type="http://schemas.openxmlformats.org/officeDocument/2006/relationships/slide" Target="/ppt/slides/slide4.xml" Id="R0cfa7a4a5bdd49b2" /><Relationship Type="http://schemas.openxmlformats.org/officeDocument/2006/relationships/slide" Target="/ppt/slides/slide5.xml" Id="R5eeff425834c41b0" /><Relationship Type="http://schemas.openxmlformats.org/officeDocument/2006/relationships/slide" Target="/ppt/slides/slide6.xml" Id="R387c95dd893341b7" /><Relationship Type="http://schemas.openxmlformats.org/officeDocument/2006/relationships/slide" Target="/ppt/slides/slide7.xml" Id="Re2346eb87e4b4880" /><Relationship Type="http://schemas.openxmlformats.org/officeDocument/2006/relationships/slide" Target="/ppt/slides/slide8.xml" Id="R7eaf11a67d51472e" /><Relationship Type="http://schemas.openxmlformats.org/officeDocument/2006/relationships/slide" Target="/ppt/slides/slide9.xml" Id="R3c166d907288435b" /><Relationship Type="http://schemas.openxmlformats.org/officeDocument/2006/relationships/slide" Target="/ppt/slides/slide10.xml" Id="R0e95f3d9c5fd4cc7" /><Relationship Type="http://schemas.openxmlformats.org/officeDocument/2006/relationships/slide" Target="/ppt/slides/slide11.xml" Id="R7a832b18279743ca" /><Relationship Type="http://schemas.openxmlformats.org/officeDocument/2006/relationships/slide" Target="/ppt/slides/slide12.xml" Id="Rc08600269f15431f" /><Relationship Type="http://schemas.openxmlformats.org/officeDocument/2006/relationships/slide" Target="/ppt/slides/slide13.xml" Id="Rfb0ed808b10a4a8b" /><Relationship Type="http://schemas.openxmlformats.org/officeDocument/2006/relationships/slide" Target="/ppt/slides/slide14.xml" Id="R62078ec5d6894849" /><Relationship Type="http://schemas.openxmlformats.org/officeDocument/2006/relationships/slide" Target="/ppt/slides/slide15.xml" Id="R3ce0a555e3394e7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3386b6c3841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7d1110d7d41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55981854040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65cccfd38b41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010c8b6544c3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53ea39e3f764bd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edd3de40f44aa" /><Relationship Type="http://schemas.openxmlformats.org/officeDocument/2006/relationships/image" Target="/ppt/media/image.png" Id="Rf70cc5f7e8be40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eab3e85654530" /><Relationship Type="http://schemas.openxmlformats.org/officeDocument/2006/relationships/image" Target="/ppt/media/image2.png" Id="Rc2a21bcbd56842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08a10f9ea4421" /><Relationship Type="http://schemas.openxmlformats.org/officeDocument/2006/relationships/image" Target="/ppt/media/image3.png" Id="R179bab10260a43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574150e154310" /><Relationship Type="http://schemas.openxmlformats.org/officeDocument/2006/relationships/image" Target="/ppt/media/image4.png" Id="R4a7d4c6facc342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c0387ea3740f2" /><Relationship Type="http://schemas.openxmlformats.org/officeDocument/2006/relationships/image" Target="/ppt/media/image5.png" Id="R0b9032950174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2300edca14542" /><Relationship Type="http://schemas.openxmlformats.org/officeDocument/2006/relationships/image" Target="/ppt/media/image6.png" Id="Re0f7985865a94a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1b2dd12da4d91" /><Relationship Type="http://schemas.openxmlformats.org/officeDocument/2006/relationships/image" Target="/ppt/media/image7.png" Id="Rb94ea8faee9141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cbc93f8f04bce" /><Relationship Type="http://schemas.openxmlformats.org/officeDocument/2006/relationships/image" Target="/ppt/media/image8.png" Id="R62c169300a5f45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7db80fe824b75" /><Relationship Type="http://schemas.openxmlformats.org/officeDocument/2006/relationships/image" Target="/ppt/media/image9.png" Id="R8171d6965aef4f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6d41cd9554f1f" /><Relationship Type="http://schemas.openxmlformats.org/officeDocument/2006/relationships/image" Target="/ppt/media/image10.png" Id="R6e4490e1ed1245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b4341639b4479" /><Relationship Type="http://schemas.openxmlformats.org/officeDocument/2006/relationships/image" Target="/ppt/media/image11.png" Id="Re691c323854548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bd047f1984dba" /><Relationship Type="http://schemas.openxmlformats.org/officeDocument/2006/relationships/image" Target="/ppt/media/image12.png" Id="R6f96c00e154347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253ec65474b3c" /><Relationship Type="http://schemas.openxmlformats.org/officeDocument/2006/relationships/image" Target="/ppt/media/image13.png" Id="Rf52ecf1b407d4bd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626d622e14c40" /><Relationship Type="http://schemas.openxmlformats.org/officeDocument/2006/relationships/image" Target="/ppt/media/image14.png" Id="Rf6400030a0294e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1a831e1ea4a42" /><Relationship Type="http://schemas.openxmlformats.org/officeDocument/2006/relationships/image" Target="/ppt/media/image15.png" Id="R667aeb7495c54c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cc5f7e8be40a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001" name="TextBox 1"/>
          <p:cNvSpPr/>
          <p:nvPr/>
        </p:nvSpPr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B08">
              <a:alpha val="45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2"/>
          <p:cNvSpPr/>
          <p:nvPr/>
        </p:nvSpPr>
        <p:spPr>
          <a:xfrm xmlns:a="http://schemas.openxmlformats.org/drawingml/2006/main">
            <a:off x="0" y="0"/>
            <a:ext cx="12192120" cy="12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9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TextBox 3"/>
          <p:cNvSpPr txBox="1"/>
          <p:nvPr/>
        </p:nvSpPr>
        <p:spPr>
          <a:xfrm xmlns:a="http://schemas.openxmlformats.org/drawingml/2006/main">
            <a:off x="972000" y="1620000"/>
            <a:ext cx="43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300" b="1">
                <a:solidFill>
                  <a:srgbClr val="B7A740"/>
                </a:solidFill>
                <a:latin typeface="源石黑體月 H"/>
                <a:ea typeface="源石黑體月 H"/>
              </a:rPr>
              <a:t>國小三年級・自然科學・第二單元</a:t>
            </a:r>
          </a:p>
        </p:txBody>
      </p:sp>
      <p:sp>
        <p:nvSpPr>
          <p:cNvPr id="100004" name="TextBox 4"/>
          <p:cNvSpPr txBox="1"/>
          <p:nvPr/>
        </p:nvSpPr>
        <p:spPr>
          <a:xfrm xmlns:a="http://schemas.openxmlformats.org/drawingml/2006/main">
            <a:off x="972000" y="1998000"/>
            <a:ext cx="10224000" cy="2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</a:pPr>
            <a:r>
              <a:rPr lang="en-US" sz="6800" b="1">
                <a:solidFill>
                  <a:srgbClr val="F2F0EA"/>
                </a:solidFill>
                <a:latin typeface="源石黑體月 H"/>
                <a:ea typeface="源石黑體月 H"/>
              </a:rPr>
              <a:t>磁鐵的</a:t>
            </a:r>
          </a:p>
          <a:p xmlns:a="http://schemas.openxmlformats.org/drawingml/2006/main">
            <a:pPr algn="l">
              <a:lnSpc>
                <a:spcPct val="102000"/>
              </a:lnSpc>
            </a:pPr>
            <a:r>
              <a:rPr lang="en-US" sz="6800" b="1">
                <a:solidFill>
                  <a:srgbClr val="F2F0EA"/>
                </a:solidFill>
                <a:latin typeface="源石黑體月 H"/>
                <a:ea typeface="源石黑體月 H"/>
              </a:rPr>
              <a:t>性質與運用</a:t>
            </a:r>
          </a:p>
        </p:txBody>
      </p:sp>
      <p:sp>
        <p:nvSpPr>
          <p:cNvPr id="100005" name="TextBox 5"/>
          <p:cNvSpPr/>
          <p:nvPr/>
        </p:nvSpPr>
        <p:spPr>
          <a:xfrm xmlns:a="http://schemas.openxmlformats.org/drawingml/2006/main">
            <a:off x="972000" y="4320000"/>
            <a:ext cx="1440000" cy="3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TextBox 6"/>
          <p:cNvSpPr txBox="1"/>
          <p:nvPr/>
        </p:nvSpPr>
        <p:spPr>
          <a:xfrm xmlns:a="http://schemas.openxmlformats.org/drawingml/2006/main">
            <a:off x="972000" y="4518000"/>
            <a:ext cx="864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1700">
                <a:solidFill>
                  <a:srgbClr val="C9BFA8"/>
                </a:solidFill>
                <a:latin typeface="源石黑體月 M"/>
                <a:ea typeface="源石黑體月 M"/>
              </a:rPr>
              <a:t>看得見的吸力，看不見的力場——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700">
                <a:solidFill>
                  <a:srgbClr val="C9BFA8"/>
                </a:solidFill>
                <a:latin typeface="源石黑體月 M"/>
                <a:ea typeface="源石黑體月 M"/>
              </a:rPr>
              <a:t>走進森林，把磁力一條一條找出來。</a:t>
            </a:r>
          </a:p>
        </p:txBody>
      </p:sp>
      <p:sp>
        <p:nvSpPr>
          <p:cNvPr id="100007" name="TextBox 7"/>
          <p:cNvSpPr txBox="1"/>
          <p:nvPr/>
        </p:nvSpPr>
        <p:spPr>
          <a:xfrm xmlns:a="http://schemas.openxmlformats.org/drawingml/2006/main">
            <a:off x="972000" y="5832000"/>
            <a:ext cx="93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8C8271"/>
                </a:solidFill>
                <a:latin typeface="源石黑體月 M"/>
                <a:ea typeface="源石黑體月 M"/>
              </a:rPr>
              <a:t>對應課綱：INe-II-7・INa-II-3・INc-II-1　｜　建議 2 節課（80 分鐘）</a:t>
            </a:r>
          </a:p>
        </p:txBody>
      </p:sp>
      <p:sp>
        <p:nvSpPr>
          <p:cNvPr id="100287" name="TextBox 8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288" name="TextBox 9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01 / 15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21bcbd56842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009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B7A740"/>
                </a:solidFill>
                <a:latin typeface="源石黑體月 H"/>
                <a:ea typeface="源石黑體月 H"/>
              </a:rPr>
              <a:t>單元導覽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這一單元，我們要解開五道鎖</a:t>
            </a:r>
          </a:p>
        </p:txBody>
      </p:sp>
      <p:sp>
        <p:nvSpPr>
          <p:cNvPr id="100011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每一道鎖，都對應一個可以動手做的實驗。先看地圖，再出發。</a:t>
            </a:r>
          </a:p>
        </p:txBody>
      </p:sp>
      <p:sp>
        <p:nvSpPr>
          <p:cNvPr id="100013" name="TextBox 5"/>
          <p:cNvSpPr/>
          <p:nvPr/>
        </p:nvSpPr>
        <p:spPr>
          <a:xfrm xmlns:a="http://schemas.openxmlformats.org/drawingml/2006/main">
            <a:off x="972000" y="2358000"/>
            <a:ext cx="102240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TextBox 6"/>
          <p:cNvSpPr/>
          <p:nvPr/>
        </p:nvSpPr>
        <p:spPr>
          <a:xfrm xmlns:a="http://schemas.openxmlformats.org/drawingml/2006/main">
            <a:off x="1170000" y="2376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TextBox 7"/>
          <p:cNvSpPr txBox="1"/>
          <p:nvPr/>
        </p:nvSpPr>
        <p:spPr>
          <a:xfrm xmlns:a="http://schemas.openxmlformats.org/drawingml/2006/main">
            <a:off x="1170000" y="2376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1</a:t>
            </a:r>
          </a:p>
        </p:txBody>
      </p:sp>
      <p:sp>
        <p:nvSpPr>
          <p:cNvPr id="100016" name="TextBox 8"/>
          <p:cNvSpPr txBox="1"/>
          <p:nvPr/>
        </p:nvSpPr>
        <p:spPr>
          <a:xfrm xmlns:a="http://schemas.openxmlformats.org/drawingml/2006/main">
            <a:off x="1818000" y="2437200"/>
            <a:ext cx="381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磁鐵能吸什麼？</a:t>
            </a:r>
          </a:p>
        </p:txBody>
      </p:sp>
      <p:sp>
        <p:nvSpPr>
          <p:cNvPr id="100017" name="TextBox 9"/>
          <p:cNvSpPr txBox="1"/>
          <p:nvPr/>
        </p:nvSpPr>
        <p:spPr>
          <a:xfrm xmlns:a="http://schemas.openxmlformats.org/drawingml/2006/main">
            <a:off x="5724000" y="2437200"/>
            <a:ext cx="532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鐵、鈷、鎳可以；銅、鋁、金、銀不行</a:t>
            </a:r>
          </a:p>
        </p:txBody>
      </p:sp>
      <p:sp>
        <p:nvSpPr>
          <p:cNvPr id="100018" name="TextBox 10"/>
          <p:cNvSpPr/>
          <p:nvPr/>
        </p:nvSpPr>
        <p:spPr>
          <a:xfrm xmlns:a="http://schemas.openxmlformats.org/drawingml/2006/main">
            <a:off x="972000" y="3024000"/>
            <a:ext cx="102240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TextBox 11"/>
          <p:cNvSpPr/>
          <p:nvPr/>
        </p:nvSpPr>
        <p:spPr>
          <a:xfrm xmlns:a="http://schemas.openxmlformats.org/drawingml/2006/main">
            <a:off x="1170000" y="3042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0" name="TextBox 12"/>
          <p:cNvSpPr txBox="1"/>
          <p:nvPr/>
        </p:nvSpPr>
        <p:spPr>
          <a:xfrm xmlns:a="http://schemas.openxmlformats.org/drawingml/2006/main">
            <a:off x="1170000" y="3042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2</a:t>
            </a:r>
          </a:p>
        </p:txBody>
      </p:sp>
      <p:sp>
        <p:nvSpPr>
          <p:cNvPr id="100021" name="TextBox 13"/>
          <p:cNvSpPr txBox="1"/>
          <p:nvPr/>
        </p:nvSpPr>
        <p:spPr>
          <a:xfrm xmlns:a="http://schemas.openxmlformats.org/drawingml/2006/main">
            <a:off x="1818000" y="3103200"/>
            <a:ext cx="381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磁力哪裡最強？</a:t>
            </a:r>
          </a:p>
        </p:txBody>
      </p:sp>
      <p:sp>
        <p:nvSpPr>
          <p:cNvPr id="100022" name="TextBox 14"/>
          <p:cNvSpPr txBox="1"/>
          <p:nvPr/>
        </p:nvSpPr>
        <p:spPr>
          <a:xfrm xmlns:a="http://schemas.openxmlformats.org/drawingml/2006/main">
            <a:off x="5724000" y="3103200"/>
            <a:ext cx="532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兩端最強叫磁極，中間最弱</a:t>
            </a:r>
          </a:p>
        </p:txBody>
      </p:sp>
      <p:sp>
        <p:nvSpPr>
          <p:cNvPr id="100023" name="TextBox 15"/>
          <p:cNvSpPr/>
          <p:nvPr/>
        </p:nvSpPr>
        <p:spPr>
          <a:xfrm xmlns:a="http://schemas.openxmlformats.org/drawingml/2006/main">
            <a:off x="972000" y="3690000"/>
            <a:ext cx="102240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TextBox 16"/>
          <p:cNvSpPr/>
          <p:nvPr/>
        </p:nvSpPr>
        <p:spPr>
          <a:xfrm xmlns:a="http://schemas.openxmlformats.org/drawingml/2006/main">
            <a:off x="1170000" y="3708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TextBox 17"/>
          <p:cNvSpPr txBox="1"/>
          <p:nvPr/>
        </p:nvSpPr>
        <p:spPr>
          <a:xfrm xmlns:a="http://schemas.openxmlformats.org/drawingml/2006/main">
            <a:off x="1170000" y="3708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3</a:t>
            </a:r>
          </a:p>
        </p:txBody>
      </p:sp>
      <p:sp>
        <p:nvSpPr>
          <p:cNvPr id="100026" name="TextBox 18"/>
          <p:cNvSpPr txBox="1"/>
          <p:nvPr/>
        </p:nvSpPr>
        <p:spPr>
          <a:xfrm xmlns:a="http://schemas.openxmlformats.org/drawingml/2006/main">
            <a:off x="1818000" y="3769200"/>
            <a:ext cx="381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同極相斥、異極相吸</a:t>
            </a:r>
          </a:p>
        </p:txBody>
      </p:sp>
      <p:sp>
        <p:nvSpPr>
          <p:cNvPr id="100027" name="TextBox 19"/>
          <p:cNvSpPr txBox="1"/>
          <p:nvPr/>
        </p:nvSpPr>
        <p:spPr>
          <a:xfrm xmlns:a="http://schemas.openxmlformats.org/drawingml/2006/main">
            <a:off x="5724000" y="3769200"/>
            <a:ext cx="532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兩顆磁鐵靠近，會推開或黏住</a:t>
            </a:r>
          </a:p>
        </p:txBody>
      </p:sp>
      <p:sp>
        <p:nvSpPr>
          <p:cNvPr id="100028" name="TextBox 20"/>
          <p:cNvSpPr/>
          <p:nvPr/>
        </p:nvSpPr>
        <p:spPr>
          <a:xfrm xmlns:a="http://schemas.openxmlformats.org/drawingml/2006/main">
            <a:off x="972000" y="4356000"/>
            <a:ext cx="102240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9" name="TextBox 21"/>
          <p:cNvSpPr/>
          <p:nvPr/>
        </p:nvSpPr>
        <p:spPr>
          <a:xfrm xmlns:a="http://schemas.openxmlformats.org/drawingml/2006/main">
            <a:off x="1170000" y="4374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0" name="TextBox 22"/>
          <p:cNvSpPr txBox="1"/>
          <p:nvPr/>
        </p:nvSpPr>
        <p:spPr>
          <a:xfrm xmlns:a="http://schemas.openxmlformats.org/drawingml/2006/main">
            <a:off x="1170000" y="4374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4</a:t>
            </a:r>
          </a:p>
        </p:txBody>
      </p:sp>
      <p:sp>
        <p:nvSpPr>
          <p:cNvPr id="100031" name="TextBox 23"/>
          <p:cNvSpPr txBox="1"/>
          <p:nvPr/>
        </p:nvSpPr>
        <p:spPr>
          <a:xfrm xmlns:a="http://schemas.openxmlformats.org/drawingml/2006/main">
            <a:off x="1818000" y="4435200"/>
            <a:ext cx="381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磁鐵會指方向</a:t>
            </a:r>
          </a:p>
        </p:txBody>
      </p:sp>
      <p:sp>
        <p:nvSpPr>
          <p:cNvPr id="100032" name="TextBox 24"/>
          <p:cNvSpPr txBox="1"/>
          <p:nvPr/>
        </p:nvSpPr>
        <p:spPr>
          <a:xfrm xmlns:a="http://schemas.openxmlformats.org/drawingml/2006/main">
            <a:off x="5724000" y="4435200"/>
            <a:ext cx="532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自由轉動後，N 指北、S 指南</a:t>
            </a:r>
          </a:p>
        </p:txBody>
      </p:sp>
      <p:sp>
        <p:nvSpPr>
          <p:cNvPr id="100033" name="TextBox 25"/>
          <p:cNvSpPr/>
          <p:nvPr/>
        </p:nvSpPr>
        <p:spPr>
          <a:xfrm xmlns:a="http://schemas.openxmlformats.org/drawingml/2006/main">
            <a:off x="972000" y="5022000"/>
            <a:ext cx="10224000" cy="55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4" name="TextBox 26"/>
          <p:cNvSpPr/>
          <p:nvPr/>
        </p:nvSpPr>
        <p:spPr>
          <a:xfrm xmlns:a="http://schemas.openxmlformats.org/drawingml/2006/main">
            <a:off x="1170000" y="5040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5" name="TextBox 27"/>
          <p:cNvSpPr txBox="1"/>
          <p:nvPr/>
        </p:nvSpPr>
        <p:spPr>
          <a:xfrm xmlns:a="http://schemas.openxmlformats.org/drawingml/2006/main">
            <a:off x="1170000" y="5040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5</a:t>
            </a:r>
          </a:p>
        </p:txBody>
      </p:sp>
      <p:sp>
        <p:nvSpPr>
          <p:cNvPr id="100036" name="TextBox 28"/>
          <p:cNvSpPr txBox="1"/>
          <p:nvPr/>
        </p:nvSpPr>
        <p:spPr>
          <a:xfrm xmlns:a="http://schemas.openxmlformats.org/drawingml/2006/main">
            <a:off x="1818000" y="5101200"/>
            <a:ext cx="381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磁鐵怎麼用？</a:t>
            </a:r>
          </a:p>
        </p:txBody>
      </p:sp>
      <p:sp>
        <p:nvSpPr>
          <p:cNvPr id="100037" name="TextBox 29"/>
          <p:cNvSpPr txBox="1"/>
          <p:nvPr/>
        </p:nvSpPr>
        <p:spPr>
          <a:xfrm xmlns:a="http://schemas.openxmlformats.org/drawingml/2006/main">
            <a:off x="5724000" y="5101200"/>
            <a:ext cx="5328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從冰箱貼到磁浮列車</a:t>
            </a:r>
          </a:p>
        </p:txBody>
      </p:sp>
      <p:sp>
        <p:nvSpPr>
          <p:cNvPr id="100038" name="TextBox 30"/>
          <p:cNvSpPr/>
          <p:nvPr/>
        </p:nvSpPr>
        <p:spPr>
          <a:xfrm xmlns:a="http://schemas.openxmlformats.org/drawingml/2006/main">
            <a:off x="972000" y="5778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7A740">
              <a:alpha val="14000"/>
            </a:srgbClr>
          </a:solidFill>
          <a:ln xmlns:a="http://schemas.openxmlformats.org/drawingml/2006/main" w="762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TextBox 31"/>
          <p:cNvSpPr txBox="1"/>
          <p:nvPr/>
        </p:nvSpPr>
        <p:spPr>
          <a:xfrm xmlns:a="http://schemas.openxmlformats.org/drawingml/2006/main">
            <a:off x="1296000" y="5900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學習目標：能說出磁鐵吸引的物質、找出磁極、用實驗比較磁力大小，並舉出生活中三種磁鐵應用。</a:t>
            </a:r>
          </a:p>
        </p:txBody>
      </p:sp>
      <p:sp>
        <p:nvSpPr>
          <p:cNvPr id="100289" name="TextBox 32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290" name="TextBox 33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02 / 15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4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bab10260a433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041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B8602A"/>
                </a:solidFill>
                <a:latin typeface="源石黑體月 H"/>
                <a:ea typeface="源石黑體月 H"/>
              </a:rPr>
              <a:t>任務一・找一找</a:t>
            </a:r>
          </a:p>
        </p:txBody>
      </p:sp>
      <p:sp>
        <p:nvSpPr>
          <p:cNvPr id="100042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磁鐵藏在哪裡？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02A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4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它常常躲起來：藏在門裡、盒子裡、玩具裡，甚至藏在你耳朵旁邊。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972000" y="2376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118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02A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7" name="TextBox 7"/>
          <p:cNvSpPr txBox="1"/>
          <p:nvPr/>
        </p:nvSpPr>
        <p:spPr>
          <a:xfrm xmlns:a="http://schemas.openxmlformats.org/drawingml/2006/main">
            <a:off x="118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冰箱與櫃子</a:t>
            </a:r>
          </a:p>
        </p:txBody>
      </p:sp>
      <p:sp>
        <p:nvSpPr>
          <p:cNvPr id="100048" name="TextBox 8"/>
          <p:cNvSpPr txBox="1"/>
          <p:nvPr/>
        </p:nvSpPr>
        <p:spPr>
          <a:xfrm xmlns:a="http://schemas.openxmlformats.org/drawingml/2006/main">
            <a:off x="1188000" y="3150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冰箱門上的磁鐵貼、櫃子門的磁扣，都是靠磁鐵吸住鐵片。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4452000" y="2376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466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02A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1" name="TextBox 11"/>
          <p:cNvSpPr txBox="1"/>
          <p:nvPr/>
        </p:nvSpPr>
        <p:spPr>
          <a:xfrm xmlns:a="http://schemas.openxmlformats.org/drawingml/2006/main">
            <a:off x="466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文具與白板</a:t>
            </a:r>
          </a:p>
        </p:txBody>
      </p:sp>
      <p:sp>
        <p:nvSpPr>
          <p:cNvPr id="100052" name="TextBox 12"/>
          <p:cNvSpPr txBox="1"/>
          <p:nvPr/>
        </p:nvSpPr>
        <p:spPr>
          <a:xfrm xmlns:a="http://schemas.openxmlformats.org/drawingml/2006/main">
            <a:off x="4668000" y="3150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鉛筆盒的磁扣、白板上的磁鐵、磁性收納條。</a:t>
            </a:r>
          </a:p>
        </p:txBody>
      </p:sp>
      <p:sp>
        <p:nvSpPr>
          <p:cNvPr id="100053" name="TextBox 13"/>
          <p:cNvSpPr/>
          <p:nvPr/>
        </p:nvSpPr>
        <p:spPr>
          <a:xfrm xmlns:a="http://schemas.openxmlformats.org/drawingml/2006/main">
            <a:off x="7932000" y="2376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4" name="TextBox 14"/>
          <p:cNvSpPr/>
          <p:nvPr/>
        </p:nvSpPr>
        <p:spPr>
          <a:xfrm xmlns:a="http://schemas.openxmlformats.org/drawingml/2006/main">
            <a:off x="814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02A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5" name="TextBox 15"/>
          <p:cNvSpPr txBox="1"/>
          <p:nvPr/>
        </p:nvSpPr>
        <p:spPr>
          <a:xfrm xmlns:a="http://schemas.openxmlformats.org/drawingml/2006/main">
            <a:off x="814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玩具與聲音</a:t>
            </a:r>
          </a:p>
        </p:txBody>
      </p:sp>
      <p:sp>
        <p:nvSpPr>
          <p:cNvPr id="100056" name="TextBox 16"/>
          <p:cNvSpPr txBox="1"/>
          <p:nvPr/>
        </p:nvSpPr>
        <p:spPr>
          <a:xfrm xmlns:a="http://schemas.openxmlformats.org/drawingml/2006/main">
            <a:off x="8148000" y="3150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磁力釣魚、磁浮玩具；耳機和喇叭裡面也有磁鐵。</a:t>
            </a:r>
          </a:p>
        </p:txBody>
      </p:sp>
      <p:sp>
        <p:nvSpPr>
          <p:cNvPr id="100057" name="TextBox 17"/>
          <p:cNvSpPr/>
          <p:nvPr/>
        </p:nvSpPr>
        <p:spPr>
          <a:xfrm xmlns:a="http://schemas.openxmlformats.org/drawingml/2006/main">
            <a:off x="972000" y="4896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602A">
              <a:alpha val="14000"/>
            </a:srgbClr>
          </a:solidFill>
          <a:ln xmlns:a="http://schemas.openxmlformats.org/drawingml/2006/main" w="762">
            <a:solidFill>
              <a:srgbClr val="B860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8" name="TextBox 18"/>
          <p:cNvSpPr txBox="1"/>
          <p:nvPr/>
        </p:nvSpPr>
        <p:spPr>
          <a:xfrm xmlns:a="http://schemas.openxmlformats.org/drawingml/2006/main">
            <a:off x="1296000" y="5018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課堂活動：給學生 2 分鐘，在教室裡找出 3 個「有磁鐵」的東西，說說它為什麼需要磁鐵。</a:t>
            </a:r>
          </a:p>
        </p:txBody>
      </p:sp>
      <p:sp>
        <p:nvSpPr>
          <p:cNvPr id="100291" name="TextBox 19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292" name="TextBox 20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03 / 15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5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d4c6facc342a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060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45A69F"/>
                </a:solidFill>
                <a:latin typeface="源石黑體月 H"/>
                <a:ea typeface="源石黑體月 H"/>
              </a:rPr>
              <a:t>任務一・實驗</a:t>
            </a:r>
          </a:p>
        </p:txBody>
      </p:sp>
      <p:sp>
        <p:nvSpPr>
          <p:cNvPr id="100061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磁鐵能吸什麼？</a:t>
            </a:r>
          </a:p>
        </p:txBody>
      </p:sp>
      <p:sp>
        <p:nvSpPr>
          <p:cNvPr id="100062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先猜一猜，再一個一個測試——這一頁的答案，很多大人也會答錯。</a:t>
            </a:r>
          </a:p>
        </p:txBody>
      </p:sp>
      <p:sp>
        <p:nvSpPr>
          <p:cNvPr id="100064" name="TextBox 5"/>
          <p:cNvSpPr/>
          <p:nvPr/>
        </p:nvSpPr>
        <p:spPr>
          <a:xfrm xmlns:a="http://schemas.openxmlformats.org/drawingml/2006/main">
            <a:off x="972000" y="2340000"/>
            <a:ext cx="4968000" cy="28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1016">
            <a:solidFill>
              <a:srgbClr val="449B5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5" name="TextBox 6"/>
          <p:cNvSpPr txBox="1"/>
          <p:nvPr/>
        </p:nvSpPr>
        <p:spPr>
          <a:xfrm xmlns:a="http://schemas.openxmlformats.org/drawingml/2006/main">
            <a:off x="1260000" y="2502000"/>
            <a:ext cx="439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449B51"/>
                </a:solidFill>
                <a:latin typeface="源石黑體月 H"/>
                <a:ea typeface="源石黑體月 H"/>
              </a:rPr>
              <a:t>✓ 吸得住</a:t>
            </a:r>
          </a:p>
        </p:txBody>
      </p:sp>
      <p:sp>
        <p:nvSpPr>
          <p:cNvPr id="100066" name="TextBox 7"/>
          <p:cNvSpPr txBox="1"/>
          <p:nvPr/>
        </p:nvSpPr>
        <p:spPr>
          <a:xfrm xmlns:a="http://schemas.openxmlformats.org/drawingml/2006/main">
            <a:off x="1260000" y="2880000"/>
            <a:ext cx="4392000" cy="24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鐵釘、迴紋針、鐵尺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鐵製罐頭、鐵湯匙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鎳、鈷（生活中較少見）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共同點：裡面含有「鐵」</a:t>
            </a:r>
          </a:p>
        </p:txBody>
      </p:sp>
      <p:sp>
        <p:nvSpPr>
          <p:cNvPr id="100067" name="TextBox 8"/>
          <p:cNvSpPr/>
          <p:nvPr/>
        </p:nvSpPr>
        <p:spPr>
          <a:xfrm xmlns:a="http://schemas.openxmlformats.org/drawingml/2006/main">
            <a:off x="6228000" y="2340000"/>
            <a:ext cx="4968000" cy="28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1016">
            <a:solidFill>
              <a:srgbClr val="BB33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8" name="TextBox 9"/>
          <p:cNvSpPr txBox="1"/>
          <p:nvPr/>
        </p:nvSpPr>
        <p:spPr>
          <a:xfrm xmlns:a="http://schemas.openxmlformats.org/drawingml/2006/main">
            <a:off x="6516000" y="2502000"/>
            <a:ext cx="4392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BB331D"/>
                </a:solidFill>
                <a:latin typeface="源石黑體月 H"/>
                <a:ea typeface="源石黑體月 H"/>
              </a:rPr>
              <a:t>✗ 吸不住</a:t>
            </a:r>
          </a:p>
        </p:txBody>
      </p:sp>
      <p:sp>
        <p:nvSpPr>
          <p:cNvPr id="100069" name="TextBox 10"/>
          <p:cNvSpPr txBox="1"/>
          <p:nvPr/>
        </p:nvSpPr>
        <p:spPr>
          <a:xfrm xmlns:a="http://schemas.openxmlformats.org/drawingml/2006/main">
            <a:off x="6516000" y="2880000"/>
            <a:ext cx="4392000" cy="24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銅線、鋁罐、金戒指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銀幣、不鏽鋼部分餐具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塑膠、木頭、玻璃、紙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500">
                <a:solidFill>
                  <a:srgbClr val="C9BFA8"/>
                </a:solidFill>
                <a:latin typeface="源石黑體月 M"/>
                <a:ea typeface="源石黑體月 M"/>
              </a:rPr>
              <a:t>迷思：不是「所有金屬」都能吸</a:t>
            </a:r>
          </a:p>
        </p:txBody>
      </p:sp>
      <p:sp>
        <p:nvSpPr>
          <p:cNvPr id="100070" name="TextBox 11"/>
          <p:cNvSpPr/>
          <p:nvPr/>
        </p:nvSpPr>
        <p:spPr>
          <a:xfrm xmlns:a="http://schemas.openxmlformats.org/drawingml/2006/main">
            <a:off x="972000" y="5400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5A69F">
              <a:alpha val="14000"/>
            </a:srgbClr>
          </a:solidFill>
          <a:ln xmlns:a="http://schemas.openxmlformats.org/drawingml/2006/main" w="762">
            <a:solidFill>
              <a:srgbClr val="45A6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TextBox 12"/>
          <p:cNvSpPr txBox="1"/>
          <p:nvPr/>
        </p:nvSpPr>
        <p:spPr>
          <a:xfrm xmlns:a="http://schemas.openxmlformats.org/drawingml/2006/main">
            <a:off x="1296000" y="5522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小提醒：不鏽鋼要看成分，含鐵的會被吸、含鎳鉻的常常不會——所以「不鏽鋼」不是單一答案。</a:t>
            </a:r>
          </a:p>
        </p:txBody>
      </p:sp>
      <p:sp>
        <p:nvSpPr>
          <p:cNvPr id="100293" name="TextBox 13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294" name="TextBox 14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04 / 15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7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032950174448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073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B7A740"/>
                </a:solidFill>
                <a:latin typeface="源石黑體月 H"/>
                <a:ea typeface="源石黑體月 H"/>
              </a:rPr>
              <a:t>任務二・實驗</a:t>
            </a:r>
          </a:p>
        </p:txBody>
      </p:sp>
      <p:sp>
        <p:nvSpPr>
          <p:cNvPr id="100074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磁力大小，怎麼比才公平？</a:t>
            </a:r>
          </a:p>
        </p:txBody>
      </p:sp>
      <p:sp>
        <p:nvSpPr>
          <p:cNvPr id="100075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6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磁力看不見，但可以用「距離」和「數量」把它量出來。</a:t>
            </a:r>
          </a:p>
        </p:txBody>
      </p:sp>
      <p:sp>
        <p:nvSpPr>
          <p:cNvPr id="100077" name="TextBox 5"/>
          <p:cNvSpPr/>
          <p:nvPr/>
        </p:nvSpPr>
        <p:spPr>
          <a:xfrm xmlns:a="http://schemas.openxmlformats.org/drawingml/2006/main">
            <a:off x="972000" y="2376000"/>
            <a:ext cx="3264000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8" name="TextBox 6"/>
          <p:cNvSpPr/>
          <p:nvPr/>
        </p:nvSpPr>
        <p:spPr>
          <a:xfrm xmlns:a="http://schemas.openxmlformats.org/drawingml/2006/main">
            <a:off x="118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9" name="TextBox 7"/>
          <p:cNvSpPr txBox="1"/>
          <p:nvPr/>
        </p:nvSpPr>
        <p:spPr>
          <a:xfrm xmlns:a="http://schemas.openxmlformats.org/drawingml/2006/main">
            <a:off x="118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方法一：看距離</a:t>
            </a:r>
          </a:p>
        </p:txBody>
      </p:sp>
      <p:sp>
        <p:nvSpPr>
          <p:cNvPr id="100080" name="TextBox 8"/>
          <p:cNvSpPr txBox="1"/>
          <p:nvPr/>
        </p:nvSpPr>
        <p:spPr>
          <a:xfrm xmlns:a="http://schemas.openxmlformats.org/drawingml/2006/main">
            <a:off x="1188000" y="3150000"/>
            <a:ext cx="2832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磁鐵慢慢靠近迴紋針，能吸到的距離越遠，代表磁力越大。</a:t>
            </a:r>
          </a:p>
        </p:txBody>
      </p:sp>
      <p:sp>
        <p:nvSpPr>
          <p:cNvPr id="100081" name="TextBox 9"/>
          <p:cNvSpPr/>
          <p:nvPr/>
        </p:nvSpPr>
        <p:spPr>
          <a:xfrm xmlns:a="http://schemas.openxmlformats.org/drawingml/2006/main">
            <a:off x="4452000" y="2376000"/>
            <a:ext cx="3264000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2" name="TextBox 10"/>
          <p:cNvSpPr/>
          <p:nvPr/>
        </p:nvSpPr>
        <p:spPr>
          <a:xfrm xmlns:a="http://schemas.openxmlformats.org/drawingml/2006/main">
            <a:off x="466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3" name="TextBox 11"/>
          <p:cNvSpPr txBox="1"/>
          <p:nvPr/>
        </p:nvSpPr>
        <p:spPr>
          <a:xfrm xmlns:a="http://schemas.openxmlformats.org/drawingml/2006/main">
            <a:off x="466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方法二：看數量</a:t>
            </a:r>
          </a:p>
        </p:txBody>
      </p:sp>
      <p:sp>
        <p:nvSpPr>
          <p:cNvPr id="100084" name="TextBox 12"/>
          <p:cNvSpPr txBox="1"/>
          <p:nvPr/>
        </p:nvSpPr>
        <p:spPr>
          <a:xfrm xmlns:a="http://schemas.openxmlformats.org/drawingml/2006/main">
            <a:off x="4668000" y="3150000"/>
            <a:ext cx="2832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一次能吸起幾根迴紋針？吸得越多，代表磁力越大。</a:t>
            </a:r>
          </a:p>
        </p:txBody>
      </p:sp>
      <p:sp>
        <p:nvSpPr>
          <p:cNvPr id="100085" name="TextBox 13"/>
          <p:cNvSpPr/>
          <p:nvPr/>
        </p:nvSpPr>
        <p:spPr>
          <a:xfrm xmlns:a="http://schemas.openxmlformats.org/drawingml/2006/main">
            <a:off x="7932000" y="2376000"/>
            <a:ext cx="3264000" cy="19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6" name="TextBox 14"/>
          <p:cNvSpPr/>
          <p:nvPr/>
        </p:nvSpPr>
        <p:spPr>
          <a:xfrm xmlns:a="http://schemas.openxmlformats.org/drawingml/2006/main">
            <a:off x="814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7" name="TextBox 15"/>
          <p:cNvSpPr txBox="1"/>
          <p:nvPr/>
        </p:nvSpPr>
        <p:spPr>
          <a:xfrm xmlns:a="http://schemas.openxmlformats.org/drawingml/2006/main">
            <a:off x="814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公平測試三件事</a:t>
            </a:r>
          </a:p>
        </p:txBody>
      </p:sp>
      <p:sp>
        <p:nvSpPr>
          <p:cNvPr id="100088" name="TextBox 16"/>
          <p:cNvSpPr txBox="1"/>
          <p:nvPr/>
        </p:nvSpPr>
        <p:spPr>
          <a:xfrm xmlns:a="http://schemas.openxmlformats.org/drawingml/2006/main">
            <a:off x="8148000" y="3150000"/>
            <a:ext cx="2832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同一種迴紋針、同一張桌面、同一顆磁鐵；每次都從一樣的高度開始。</a:t>
            </a:r>
          </a:p>
        </p:txBody>
      </p:sp>
      <p:sp>
        <p:nvSpPr>
          <p:cNvPr id="100089" name="TextBox 17"/>
          <p:cNvSpPr/>
          <p:nvPr/>
        </p:nvSpPr>
        <p:spPr>
          <a:xfrm xmlns:a="http://schemas.openxmlformats.org/drawingml/2006/main">
            <a:off x="972000" y="4932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7A740">
              <a:alpha val="14000"/>
            </a:srgbClr>
          </a:solidFill>
          <a:ln xmlns:a="http://schemas.openxmlformats.org/drawingml/2006/main" w="762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0" name="TextBox 18"/>
          <p:cNvSpPr txBox="1"/>
          <p:nvPr/>
        </p:nvSpPr>
        <p:spPr>
          <a:xfrm xmlns:a="http://schemas.openxmlformats.org/drawingml/2006/main">
            <a:off x="1296000" y="5054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記錄方式：把結果畫成長條圖，直條越高＝磁力越強；再比較條形、圓形、U 形三種磁鐵。</a:t>
            </a:r>
          </a:p>
        </p:txBody>
      </p:sp>
      <p:sp>
        <p:nvSpPr>
          <p:cNvPr id="100295" name="TextBox 19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296" name="TextBox 20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05 / 15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091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7985865a94af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092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45A69F"/>
                </a:solidFill>
                <a:latin typeface="源石黑體月 H"/>
                <a:ea typeface="源石黑體月 H"/>
              </a:rPr>
              <a:t>任務二・發現</a:t>
            </a:r>
          </a:p>
        </p:txBody>
      </p:sp>
      <p:sp>
        <p:nvSpPr>
          <p:cNvPr id="100093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磁力最強的地方：磁極</a:t>
            </a:r>
          </a:p>
        </p:txBody>
      </p:sp>
      <p:sp>
        <p:nvSpPr>
          <p:cNvPr id="100094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同一顆磁鐵，每個位置的磁力並不一樣強。</a:t>
            </a:r>
          </a:p>
        </p:txBody>
      </p:sp>
      <p:sp>
        <p:nvSpPr>
          <p:cNvPr id="100096" name="TextBox 5"/>
          <p:cNvSpPr/>
          <p:nvPr/>
        </p:nvSpPr>
        <p:spPr>
          <a:xfrm xmlns:a="http://schemas.openxmlformats.org/drawingml/2006/main">
            <a:off x="972000" y="2376000"/>
            <a:ext cx="32640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TextBox 6"/>
          <p:cNvSpPr/>
          <p:nvPr/>
        </p:nvSpPr>
        <p:spPr>
          <a:xfrm xmlns:a="http://schemas.openxmlformats.org/drawingml/2006/main">
            <a:off x="118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8" name="TextBox 7"/>
          <p:cNvSpPr txBox="1"/>
          <p:nvPr/>
        </p:nvSpPr>
        <p:spPr>
          <a:xfrm xmlns:a="http://schemas.openxmlformats.org/drawingml/2006/main">
            <a:off x="118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兩端最強</a:t>
            </a:r>
          </a:p>
        </p:txBody>
      </p:sp>
      <p:sp>
        <p:nvSpPr>
          <p:cNvPr id="100099" name="TextBox 8"/>
          <p:cNvSpPr txBox="1"/>
          <p:nvPr/>
        </p:nvSpPr>
        <p:spPr>
          <a:xfrm xmlns:a="http://schemas.openxmlformats.org/drawingml/2006/main">
            <a:off x="1188000" y="3150000"/>
            <a:ext cx="2832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條形磁鐵的兩個尖端磁力最大，這兩個位置就叫「磁極」。</a:t>
            </a:r>
          </a:p>
        </p:txBody>
      </p:sp>
      <p:sp>
        <p:nvSpPr>
          <p:cNvPr id="100100" name="TextBox 9"/>
          <p:cNvSpPr/>
          <p:nvPr/>
        </p:nvSpPr>
        <p:spPr>
          <a:xfrm xmlns:a="http://schemas.openxmlformats.org/drawingml/2006/main">
            <a:off x="4452000" y="2376000"/>
            <a:ext cx="32640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1" name="TextBox 10"/>
          <p:cNvSpPr/>
          <p:nvPr/>
        </p:nvSpPr>
        <p:spPr>
          <a:xfrm xmlns:a="http://schemas.openxmlformats.org/drawingml/2006/main">
            <a:off x="466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2" name="TextBox 11"/>
          <p:cNvSpPr txBox="1"/>
          <p:nvPr/>
        </p:nvSpPr>
        <p:spPr>
          <a:xfrm xmlns:a="http://schemas.openxmlformats.org/drawingml/2006/main">
            <a:off x="466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中間最弱</a:t>
            </a:r>
          </a:p>
        </p:txBody>
      </p:sp>
      <p:sp>
        <p:nvSpPr>
          <p:cNvPr id="100103" name="TextBox 12"/>
          <p:cNvSpPr txBox="1"/>
          <p:nvPr/>
        </p:nvSpPr>
        <p:spPr>
          <a:xfrm xmlns:a="http://schemas.openxmlformats.org/drawingml/2006/main">
            <a:off x="4668000" y="3150000"/>
            <a:ext cx="2832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磁鐵正中間幾乎吸不住迴紋針，磁力最弱。</a:t>
            </a:r>
          </a:p>
        </p:txBody>
      </p:sp>
      <p:sp>
        <p:nvSpPr>
          <p:cNvPr id="100104" name="TextBox 13"/>
          <p:cNvSpPr/>
          <p:nvPr/>
        </p:nvSpPr>
        <p:spPr>
          <a:xfrm xmlns:a="http://schemas.openxmlformats.org/drawingml/2006/main">
            <a:off x="7932000" y="2376000"/>
            <a:ext cx="3264000" cy="16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5" name="TextBox 14"/>
          <p:cNvSpPr/>
          <p:nvPr/>
        </p:nvSpPr>
        <p:spPr>
          <a:xfrm xmlns:a="http://schemas.openxmlformats.org/drawingml/2006/main">
            <a:off x="8148000" y="257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6" name="TextBox 15"/>
          <p:cNvSpPr txBox="1"/>
          <p:nvPr/>
        </p:nvSpPr>
        <p:spPr>
          <a:xfrm xmlns:a="http://schemas.openxmlformats.org/drawingml/2006/main">
            <a:off x="8148000" y="273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一定有兩個</a:t>
            </a:r>
          </a:p>
        </p:txBody>
      </p:sp>
      <p:sp>
        <p:nvSpPr>
          <p:cNvPr id="100107" name="TextBox 16"/>
          <p:cNvSpPr txBox="1"/>
          <p:nvPr/>
        </p:nvSpPr>
        <p:spPr>
          <a:xfrm xmlns:a="http://schemas.openxmlformats.org/drawingml/2006/main">
            <a:off x="8148000" y="3150000"/>
            <a:ext cx="2832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不管磁鐵多小、什麼形狀，都一定有 N 極和 S 極兩個磁極。</a:t>
            </a:r>
          </a:p>
        </p:txBody>
      </p:sp>
      <p:sp>
        <p:nvSpPr>
          <p:cNvPr id="100108" name="TextBox 17"/>
          <p:cNvSpPr/>
          <p:nvPr/>
        </p:nvSpPr>
        <p:spPr>
          <a:xfrm xmlns:a="http://schemas.openxmlformats.org/drawingml/2006/main">
            <a:off x="3744000" y="4392000"/>
            <a:ext cx="4680000" cy="7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5A6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9" name="TextBox 18"/>
          <p:cNvSpPr/>
          <p:nvPr/>
        </p:nvSpPr>
        <p:spPr>
          <a:xfrm xmlns:a="http://schemas.openxmlformats.org/drawingml/2006/main">
            <a:off x="3744000" y="4392000"/>
            <a:ext cx="2340000" cy="7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B331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0" name="TextBox 19"/>
          <p:cNvSpPr txBox="1"/>
          <p:nvPr/>
        </p:nvSpPr>
        <p:spPr>
          <a:xfrm xmlns:a="http://schemas.openxmlformats.org/drawingml/2006/main">
            <a:off x="3744000" y="4392000"/>
            <a:ext cx="234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6EA"/>
                </a:solidFill>
                <a:latin typeface="源石黑體月 H"/>
                <a:ea typeface="源石黑體月 H"/>
              </a:rPr>
              <a:t>N</a:t>
            </a:r>
          </a:p>
        </p:txBody>
      </p:sp>
      <p:sp>
        <p:nvSpPr>
          <p:cNvPr id="100111" name="TextBox 20"/>
          <p:cNvSpPr txBox="1"/>
          <p:nvPr/>
        </p:nvSpPr>
        <p:spPr>
          <a:xfrm xmlns:a="http://schemas.openxmlformats.org/drawingml/2006/main">
            <a:off x="6084000" y="4392000"/>
            <a:ext cx="234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2600" b="1">
                <a:solidFill>
                  <a:srgbClr val="FFF6EA"/>
                </a:solidFill>
                <a:latin typeface="源石黑體月 H"/>
                <a:ea typeface="源石黑體月 H"/>
              </a:rPr>
              <a:t>S</a:t>
            </a:r>
          </a:p>
        </p:txBody>
      </p:sp>
      <p:sp>
        <p:nvSpPr>
          <p:cNvPr id="100112" name="TextBox 21"/>
          <p:cNvSpPr txBox="1"/>
          <p:nvPr/>
        </p:nvSpPr>
        <p:spPr>
          <a:xfrm xmlns:a="http://schemas.openxmlformats.org/drawingml/2006/main">
            <a:off x="3744000" y="5202000"/>
            <a:ext cx="23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C9BFA8"/>
                </a:solidFill>
                <a:latin typeface="源石黑體月 M"/>
                <a:ea typeface="源石黑體月 M"/>
              </a:rPr>
              <a:t>N 極（指北）</a:t>
            </a:r>
          </a:p>
        </p:txBody>
      </p:sp>
      <p:sp>
        <p:nvSpPr>
          <p:cNvPr id="100113" name="TextBox 22"/>
          <p:cNvSpPr txBox="1"/>
          <p:nvPr/>
        </p:nvSpPr>
        <p:spPr>
          <a:xfrm xmlns:a="http://schemas.openxmlformats.org/drawingml/2006/main">
            <a:off x="6084000" y="5202000"/>
            <a:ext cx="23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>
                <a:solidFill>
                  <a:srgbClr val="C9BFA8"/>
                </a:solidFill>
                <a:latin typeface="源石黑體月 M"/>
                <a:ea typeface="源石黑體月 M"/>
              </a:rPr>
              <a:t>S 極（指南）</a:t>
            </a:r>
          </a:p>
        </p:txBody>
      </p:sp>
      <p:sp>
        <p:nvSpPr>
          <p:cNvPr id="100114" name="TextBox 23"/>
          <p:cNvSpPr txBox="1"/>
          <p:nvPr/>
        </p:nvSpPr>
        <p:spPr>
          <a:xfrm xmlns:a="http://schemas.openxmlformats.org/drawingml/2006/main">
            <a:off x="3744000" y="4122000"/>
            <a:ext cx="23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50" b="1">
                <a:solidFill>
                  <a:srgbClr val="B7A740"/>
                </a:solidFill>
                <a:latin typeface="源石黑體月 M"/>
                <a:ea typeface="源石黑體月 M"/>
              </a:rPr>
              <a:t>◀ 磁力最強</a:t>
            </a:r>
          </a:p>
        </p:txBody>
      </p:sp>
      <p:sp>
        <p:nvSpPr>
          <p:cNvPr id="100115" name="TextBox 24"/>
          <p:cNvSpPr txBox="1"/>
          <p:nvPr/>
        </p:nvSpPr>
        <p:spPr>
          <a:xfrm xmlns:a="http://schemas.openxmlformats.org/drawingml/2006/main">
            <a:off x="6012000" y="4122000"/>
            <a:ext cx="234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B7A740"/>
                </a:solidFill>
                <a:latin typeface="源石黑體月 M"/>
                <a:ea typeface="源石黑體月 M"/>
              </a:rPr>
              <a:t>磁力最強 ▶</a:t>
            </a:r>
          </a:p>
        </p:txBody>
      </p:sp>
      <p:sp>
        <p:nvSpPr>
          <p:cNvPr id="100116" name="TextBox 25"/>
          <p:cNvSpPr txBox="1"/>
          <p:nvPr/>
        </p:nvSpPr>
        <p:spPr>
          <a:xfrm xmlns:a="http://schemas.openxmlformats.org/drawingml/2006/main">
            <a:off x="5292000" y="4111200"/>
            <a:ext cx="1584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050">
                <a:solidFill>
                  <a:srgbClr val="8C8271"/>
                </a:solidFill>
                <a:latin typeface="源石黑體月 M"/>
                <a:ea typeface="源石黑體月 M"/>
              </a:rPr>
              <a:t>中間最弱</a:t>
            </a:r>
          </a:p>
        </p:txBody>
      </p:sp>
      <p:sp>
        <p:nvSpPr>
          <p:cNvPr id="100117" name="TextBox 26"/>
          <p:cNvSpPr/>
          <p:nvPr/>
        </p:nvSpPr>
        <p:spPr>
          <a:xfrm xmlns:a="http://schemas.openxmlformats.org/drawingml/2006/main">
            <a:off x="972000" y="5562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5A69F">
              <a:alpha val="14000"/>
            </a:srgbClr>
          </a:solidFill>
          <a:ln xmlns:a="http://schemas.openxmlformats.org/drawingml/2006/main" w="762">
            <a:solidFill>
              <a:srgbClr val="45A6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8" name="TextBox 27"/>
          <p:cNvSpPr txBox="1"/>
          <p:nvPr/>
        </p:nvSpPr>
        <p:spPr>
          <a:xfrm xmlns:a="http://schemas.openxmlformats.org/drawingml/2006/main">
            <a:off x="1296000" y="5684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形狀實驗：條形、U 形（馬蹄形）、圓形、環形——圓形磁鐵的磁極在「上下兩面」，不在側邊。</a:t>
            </a:r>
          </a:p>
        </p:txBody>
      </p:sp>
      <p:sp>
        <p:nvSpPr>
          <p:cNvPr id="100297" name="TextBox 28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298" name="TextBox 29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06 / 15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1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ea8faee91419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120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7B4BB7"/>
                </a:solidFill>
                <a:latin typeface="源石黑體月 H"/>
                <a:ea typeface="源石黑體月 H"/>
              </a:rPr>
              <a:t>任務二・觀察</a:t>
            </a:r>
          </a:p>
        </p:txBody>
      </p:sp>
      <p:sp>
        <p:nvSpPr>
          <p:cNvPr id="100121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用鐵粉，讓磁力現形</a:t>
            </a:r>
          </a:p>
        </p:txBody>
      </p:sp>
      <p:sp>
        <p:nvSpPr>
          <p:cNvPr id="100122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B7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3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磁力看不見，但鐵粉會排隊告訴你它在哪裡。</a:t>
            </a:r>
          </a:p>
        </p:txBody>
      </p:sp>
      <p:sp>
        <p:nvSpPr>
          <p:cNvPr id="100124" name="TextBox 5"/>
          <p:cNvSpPr/>
          <p:nvPr/>
        </p:nvSpPr>
        <p:spPr>
          <a:xfrm xmlns:a="http://schemas.openxmlformats.org/drawingml/2006/main">
            <a:off x="972000" y="2376000"/>
            <a:ext cx="5616000" cy="30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6000"/>
            </a:srgbClr>
          </a:solidFill>
          <a:ln xmlns:a="http://schemas.openxmlformats.org/drawingml/2006/main" w="1016">
            <a:solidFill>
              <a:srgbClr val="7B4BB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5" name="TextBox 6"/>
          <p:cNvSpPr txBox="1"/>
          <p:nvPr/>
        </p:nvSpPr>
        <p:spPr>
          <a:xfrm xmlns:a="http://schemas.openxmlformats.org/drawingml/2006/main">
            <a:off x="1296000" y="2556000"/>
            <a:ext cx="4968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7B4BB7"/>
                </a:solidFill>
                <a:latin typeface="源石黑體月 H"/>
                <a:ea typeface="源石黑體月 H"/>
              </a:rPr>
              <a:t>你會看到</a:t>
            </a:r>
          </a:p>
        </p:txBody>
      </p:sp>
      <p:sp>
        <p:nvSpPr>
          <p:cNvPr id="100126" name="TextBox 7"/>
          <p:cNvSpPr txBox="1"/>
          <p:nvPr/>
        </p:nvSpPr>
        <p:spPr>
          <a:xfrm xmlns:a="http://schemas.openxmlformats.org/drawingml/2006/main">
            <a:off x="1296000" y="2916000"/>
            <a:ext cx="4968000" cy="23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磁極附近：鐵粉又密又尖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中間：鐵粉稀稀疏疏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鐵粉排出的線，就是「磁力線」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從 N 極出發，繞一圈回到 S 極。</a:t>
            </a:r>
          </a:p>
        </p:txBody>
      </p:sp>
      <p:sp>
        <p:nvSpPr>
          <p:cNvPr id="100127" name="TextBox 8"/>
          <p:cNvSpPr/>
          <p:nvPr/>
        </p:nvSpPr>
        <p:spPr>
          <a:xfrm xmlns:a="http://schemas.openxmlformats.org/drawingml/2006/main">
            <a:off x="6876000" y="2376000"/>
            <a:ext cx="4320000" cy="302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B13">
              <a:alpha val="80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8" name="TextBox 9"/>
          <p:cNvSpPr txBox="1"/>
          <p:nvPr/>
        </p:nvSpPr>
        <p:spPr>
          <a:xfrm xmlns:a="http://schemas.openxmlformats.org/drawingml/2006/main">
            <a:off x="7164000" y="2556000"/>
            <a:ext cx="3744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B7A740"/>
                </a:solidFill>
                <a:latin typeface="源石黑體月 H"/>
                <a:ea typeface="源石黑體月 H"/>
              </a:rPr>
              <a:t>動手做</a:t>
            </a:r>
          </a:p>
        </p:txBody>
      </p:sp>
      <p:sp>
        <p:nvSpPr>
          <p:cNvPr id="100129" name="TextBox 10"/>
          <p:cNvSpPr txBox="1"/>
          <p:nvPr/>
        </p:nvSpPr>
        <p:spPr>
          <a:xfrm xmlns:a="http://schemas.openxmlformats.org/drawingml/2006/main">
            <a:off x="7164000" y="2916000"/>
            <a:ext cx="3744000" cy="23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1. 把磁鐵放在桌上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2. 蓋上一張薄紙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3. 撒少量鐵粉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4. 輕敲紙邊，看圖案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/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（鐵粉用完要回收）</a:t>
            </a:r>
          </a:p>
        </p:txBody>
      </p:sp>
      <p:sp>
        <p:nvSpPr>
          <p:cNvPr id="100299" name="TextBox 11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00" name="TextBox 12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07 / 15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13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169300a5f453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131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BB331D"/>
                </a:solidFill>
                <a:latin typeface="源石黑體月 H"/>
                <a:ea typeface="源石黑體月 H"/>
              </a:rPr>
              <a:t>任務三・核心</a:t>
            </a:r>
          </a:p>
        </p:txBody>
      </p:sp>
      <p:sp>
        <p:nvSpPr>
          <p:cNvPr id="100132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同極相斥，異極相吸</a:t>
            </a:r>
          </a:p>
        </p:txBody>
      </p:sp>
      <p:sp>
        <p:nvSpPr>
          <p:cNvPr id="100133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331D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4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兩顆磁鐵靠近，只有兩種結果：推開，或黏住。</a:t>
            </a:r>
          </a:p>
        </p:txBody>
      </p:sp>
      <p:sp>
        <p:nvSpPr>
          <p:cNvPr id="100135" name="TextBox 5"/>
          <p:cNvSpPr/>
          <p:nvPr/>
        </p:nvSpPr>
        <p:spPr>
          <a:xfrm xmlns:a="http://schemas.openxmlformats.org/drawingml/2006/main">
            <a:off x="972000" y="2340000"/>
            <a:ext cx="49680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6000"/>
            </a:srgbClr>
          </a:solidFill>
          <a:ln xmlns:a="http://schemas.openxmlformats.org/drawingml/2006/main" w="1016">
            <a:solidFill>
              <a:srgbClr val="BB33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6" name="TextBox 6"/>
          <p:cNvSpPr txBox="1"/>
          <p:nvPr/>
        </p:nvSpPr>
        <p:spPr>
          <a:xfrm xmlns:a="http://schemas.openxmlformats.org/drawingml/2006/main">
            <a:off x="1260000" y="2502000"/>
            <a:ext cx="43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BB331D"/>
                </a:solidFill>
                <a:latin typeface="源石黑體月 H"/>
                <a:ea typeface="源石黑體月 H"/>
              </a:rPr>
              <a:t>相斥（推開）</a:t>
            </a:r>
          </a:p>
        </p:txBody>
      </p:sp>
      <p:sp>
        <p:nvSpPr>
          <p:cNvPr id="100137" name="TextBox 7"/>
          <p:cNvSpPr txBox="1"/>
          <p:nvPr/>
        </p:nvSpPr>
        <p:spPr>
          <a:xfrm xmlns:a="http://schemas.openxmlformats.org/drawingml/2006/main">
            <a:off x="1260000" y="2862000"/>
            <a:ext cx="4392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1600">
                <a:solidFill>
                  <a:srgbClr val="C9BFA8"/>
                </a:solidFill>
                <a:latin typeface="源石黑體月 M"/>
                <a:ea typeface="源石黑體月 M"/>
              </a:rPr>
              <a:t>N 對 N　→　推開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600">
                <a:solidFill>
                  <a:srgbClr val="C9BFA8"/>
                </a:solidFill>
                <a:latin typeface="源石黑體月 M"/>
                <a:ea typeface="源石黑體月 M"/>
              </a:rPr>
              <a:t>S 對 S　→　推開</a:t>
            </a:r>
          </a:p>
        </p:txBody>
      </p:sp>
      <p:sp>
        <p:nvSpPr>
          <p:cNvPr id="100138" name="TextBox 8"/>
          <p:cNvSpPr/>
          <p:nvPr/>
        </p:nvSpPr>
        <p:spPr>
          <a:xfrm xmlns:a="http://schemas.openxmlformats.org/drawingml/2006/main">
            <a:off x="6228000" y="2340000"/>
            <a:ext cx="49680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6000"/>
            </a:srgbClr>
          </a:solidFill>
          <a:ln xmlns:a="http://schemas.openxmlformats.org/drawingml/2006/main" w="1016">
            <a:solidFill>
              <a:srgbClr val="449B5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9" name="TextBox 9"/>
          <p:cNvSpPr txBox="1"/>
          <p:nvPr/>
        </p:nvSpPr>
        <p:spPr>
          <a:xfrm xmlns:a="http://schemas.openxmlformats.org/drawingml/2006/main">
            <a:off x="6516000" y="2502000"/>
            <a:ext cx="439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449B51"/>
                </a:solidFill>
                <a:latin typeface="源石黑體月 H"/>
                <a:ea typeface="源石黑體月 H"/>
              </a:rPr>
              <a:t>相吸（黏住）</a:t>
            </a:r>
          </a:p>
        </p:txBody>
      </p:sp>
      <p:sp>
        <p:nvSpPr>
          <p:cNvPr id="100140" name="TextBox 10"/>
          <p:cNvSpPr txBox="1"/>
          <p:nvPr/>
        </p:nvSpPr>
        <p:spPr>
          <a:xfrm xmlns:a="http://schemas.openxmlformats.org/drawingml/2006/main">
            <a:off x="6516000" y="2862000"/>
            <a:ext cx="4392000" cy="11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</a:pPr>
            <a:r>
              <a:rPr lang="en-US" sz="1600">
                <a:solidFill>
                  <a:srgbClr val="C9BFA8"/>
                </a:solidFill>
                <a:latin typeface="源石黑體月 M"/>
                <a:ea typeface="源石黑體月 M"/>
              </a:rPr>
              <a:t>N 對 S　→　吸住</a:t>
            </a:r>
          </a:p>
          <a:p xmlns:a="http://schemas.openxmlformats.org/drawingml/2006/main">
            <a:pPr algn="l">
              <a:lnSpc>
                <a:spcPct val="140000"/>
              </a:lnSpc>
            </a:pPr>
            <a:r>
              <a:rPr lang="en-US" sz="1600">
                <a:solidFill>
                  <a:srgbClr val="C9BFA8"/>
                </a:solidFill>
                <a:latin typeface="源石黑體月 M"/>
                <a:ea typeface="源石黑體月 M"/>
              </a:rPr>
              <a:t>S 對 N　→　吸住</a:t>
            </a:r>
          </a:p>
        </p:txBody>
      </p:sp>
      <p:sp>
        <p:nvSpPr>
          <p:cNvPr id="100141" name="TextBox 11"/>
          <p:cNvSpPr/>
          <p:nvPr/>
        </p:nvSpPr>
        <p:spPr>
          <a:xfrm xmlns:a="http://schemas.openxmlformats.org/drawingml/2006/main">
            <a:off x="972000" y="4212000"/>
            <a:ext cx="10224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7A740">
              <a:alpha val="14000"/>
            </a:srgbClr>
          </a:solidFill>
          <a:ln xmlns:a="http://schemas.openxmlformats.org/drawingml/2006/main" w="762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2" name="TextBox 12"/>
          <p:cNvSpPr txBox="1"/>
          <p:nvPr/>
        </p:nvSpPr>
        <p:spPr>
          <a:xfrm xmlns:a="http://schemas.openxmlformats.org/drawingml/2006/main">
            <a:off x="1296000" y="4302000"/>
            <a:ext cx="9576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E9DCAF"/>
                </a:solidFill>
                <a:latin typeface="源石黑體月 M"/>
                <a:ea typeface="源石黑體月 M"/>
              </a:rPr>
              <a:t>口訣：同極相斥，異極相吸。　試試看：把兩顆磁鐵慢慢靠近，手心會感覺到一股推力。</a:t>
            </a:r>
          </a:p>
        </p:txBody>
      </p:sp>
      <p:sp>
        <p:nvSpPr>
          <p:cNvPr id="100143" name="TextBox 13"/>
          <p:cNvSpPr/>
          <p:nvPr/>
        </p:nvSpPr>
        <p:spPr>
          <a:xfrm xmlns:a="http://schemas.openxmlformats.org/drawingml/2006/main">
            <a:off x="972000" y="5076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B331D">
              <a:alpha val="14000"/>
            </a:srgbClr>
          </a:solidFill>
          <a:ln xmlns:a="http://schemas.openxmlformats.org/drawingml/2006/main" w="762">
            <a:solidFill>
              <a:srgbClr val="BB331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4" name="TextBox 14"/>
          <p:cNvSpPr txBox="1"/>
          <p:nvPr/>
        </p:nvSpPr>
        <p:spPr>
          <a:xfrm xmlns:a="http://schemas.openxmlformats.org/drawingml/2006/main">
            <a:off x="1296000" y="5198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應用連連看：磁浮玩具、磁浮列車，都是利用「相斥」把車體撐起來，減少摩擦。</a:t>
            </a:r>
          </a:p>
        </p:txBody>
      </p:sp>
      <p:sp>
        <p:nvSpPr>
          <p:cNvPr id="100301" name="TextBox 15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02" name="TextBox 16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08 / 15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14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1d6965aef4fe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146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B7A740"/>
                </a:solidFill>
                <a:latin typeface="源石黑體月 H"/>
                <a:ea typeface="源石黑體月 H"/>
              </a:rPr>
              <a:t>任務四・發現</a:t>
            </a:r>
          </a:p>
        </p:txBody>
      </p:sp>
      <p:sp>
        <p:nvSpPr>
          <p:cNvPr id="100147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磁鐵會自己找方向</a:t>
            </a:r>
          </a:p>
        </p:txBody>
      </p:sp>
      <p:sp>
        <p:nvSpPr>
          <p:cNvPr id="100148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9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只要讓它自由轉動，它最後一定會停在同一條線上。</a:t>
            </a:r>
          </a:p>
        </p:txBody>
      </p:sp>
      <p:sp>
        <p:nvSpPr>
          <p:cNvPr id="100150" name="TextBox 5"/>
          <p:cNvSpPr/>
          <p:nvPr/>
        </p:nvSpPr>
        <p:spPr>
          <a:xfrm xmlns:a="http://schemas.openxmlformats.org/drawingml/2006/main">
            <a:off x="972000" y="2304000"/>
            <a:ext cx="10224000" cy="73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1" name="TextBox 6"/>
          <p:cNvSpPr/>
          <p:nvPr/>
        </p:nvSpPr>
        <p:spPr>
          <a:xfrm xmlns:a="http://schemas.openxmlformats.org/drawingml/2006/main">
            <a:off x="1170000" y="2412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2" name="TextBox 7"/>
          <p:cNvSpPr txBox="1"/>
          <p:nvPr/>
        </p:nvSpPr>
        <p:spPr>
          <a:xfrm xmlns:a="http://schemas.openxmlformats.org/drawingml/2006/main">
            <a:off x="1170000" y="2412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1</a:t>
            </a:r>
          </a:p>
        </p:txBody>
      </p:sp>
      <p:sp>
        <p:nvSpPr>
          <p:cNvPr id="100153" name="TextBox 8"/>
          <p:cNvSpPr txBox="1"/>
          <p:nvPr/>
        </p:nvSpPr>
        <p:spPr>
          <a:xfrm xmlns:a="http://schemas.openxmlformats.org/drawingml/2006/main">
            <a:off x="1818000" y="2383200"/>
            <a:ext cx="3816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把磁鐵吊起來</a:t>
            </a:r>
          </a:p>
        </p:txBody>
      </p:sp>
      <p:sp>
        <p:nvSpPr>
          <p:cNvPr id="100154" name="TextBox 9"/>
          <p:cNvSpPr txBox="1"/>
          <p:nvPr/>
        </p:nvSpPr>
        <p:spPr>
          <a:xfrm xmlns:a="http://schemas.openxmlformats.org/drawingml/2006/main">
            <a:off x="5724000" y="2383200"/>
            <a:ext cx="532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用細線綁住中間，等它停止轉動。</a:t>
            </a:r>
          </a:p>
        </p:txBody>
      </p:sp>
      <p:sp>
        <p:nvSpPr>
          <p:cNvPr id="100155" name="TextBox 10"/>
          <p:cNvSpPr/>
          <p:nvPr/>
        </p:nvSpPr>
        <p:spPr>
          <a:xfrm xmlns:a="http://schemas.openxmlformats.org/drawingml/2006/main">
            <a:off x="972000" y="3193200"/>
            <a:ext cx="10224000" cy="73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6" name="TextBox 11"/>
          <p:cNvSpPr/>
          <p:nvPr/>
        </p:nvSpPr>
        <p:spPr>
          <a:xfrm xmlns:a="http://schemas.openxmlformats.org/drawingml/2006/main">
            <a:off x="1170000" y="33012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7" name="TextBox 12"/>
          <p:cNvSpPr txBox="1"/>
          <p:nvPr/>
        </p:nvSpPr>
        <p:spPr>
          <a:xfrm xmlns:a="http://schemas.openxmlformats.org/drawingml/2006/main">
            <a:off x="1170000" y="33012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2</a:t>
            </a:r>
          </a:p>
        </p:txBody>
      </p:sp>
      <p:sp>
        <p:nvSpPr>
          <p:cNvPr id="100158" name="TextBox 13"/>
          <p:cNvSpPr txBox="1"/>
          <p:nvPr/>
        </p:nvSpPr>
        <p:spPr>
          <a:xfrm xmlns:a="http://schemas.openxmlformats.org/drawingml/2006/main">
            <a:off x="1818000" y="3272400"/>
            <a:ext cx="3816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或讓它浮在水面</a:t>
            </a:r>
          </a:p>
        </p:txBody>
      </p:sp>
      <p:sp>
        <p:nvSpPr>
          <p:cNvPr id="100159" name="TextBox 14"/>
          <p:cNvSpPr txBox="1"/>
          <p:nvPr/>
        </p:nvSpPr>
        <p:spPr>
          <a:xfrm xmlns:a="http://schemas.openxmlformats.org/drawingml/2006/main">
            <a:off x="5724000" y="3272400"/>
            <a:ext cx="532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把小磁鐵放在保麗龍片上，浮在水盆裡。</a:t>
            </a:r>
          </a:p>
        </p:txBody>
      </p:sp>
      <p:sp>
        <p:nvSpPr>
          <p:cNvPr id="100160" name="TextBox 15"/>
          <p:cNvSpPr/>
          <p:nvPr/>
        </p:nvSpPr>
        <p:spPr>
          <a:xfrm xmlns:a="http://schemas.openxmlformats.org/drawingml/2006/main">
            <a:off x="972000" y="4082400"/>
            <a:ext cx="10224000" cy="73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1" name="TextBox 16"/>
          <p:cNvSpPr/>
          <p:nvPr/>
        </p:nvSpPr>
        <p:spPr>
          <a:xfrm xmlns:a="http://schemas.openxmlformats.org/drawingml/2006/main">
            <a:off x="1170000" y="41904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A7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2" name="TextBox 17"/>
          <p:cNvSpPr txBox="1"/>
          <p:nvPr/>
        </p:nvSpPr>
        <p:spPr>
          <a:xfrm xmlns:a="http://schemas.openxmlformats.org/drawingml/2006/main">
            <a:off x="1170000" y="41904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3</a:t>
            </a:r>
          </a:p>
        </p:txBody>
      </p:sp>
      <p:sp>
        <p:nvSpPr>
          <p:cNvPr id="100163" name="TextBox 18"/>
          <p:cNvSpPr txBox="1"/>
          <p:nvPr/>
        </p:nvSpPr>
        <p:spPr>
          <a:xfrm xmlns:a="http://schemas.openxmlformats.org/drawingml/2006/main">
            <a:off x="1818000" y="4161600"/>
            <a:ext cx="3816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觀察它停在哪</a:t>
            </a:r>
          </a:p>
        </p:txBody>
      </p:sp>
      <p:sp>
        <p:nvSpPr>
          <p:cNvPr id="100164" name="TextBox 19"/>
          <p:cNvSpPr txBox="1"/>
          <p:nvPr/>
        </p:nvSpPr>
        <p:spPr>
          <a:xfrm xmlns:a="http://schemas.openxmlformats.org/drawingml/2006/main">
            <a:off x="5724000" y="4161600"/>
            <a:ext cx="532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N 極指向北方，S 極指向南方——這就是指南針的原理。</a:t>
            </a:r>
          </a:p>
        </p:txBody>
      </p:sp>
      <p:sp>
        <p:nvSpPr>
          <p:cNvPr id="100165" name="TextBox 20"/>
          <p:cNvSpPr/>
          <p:nvPr/>
        </p:nvSpPr>
        <p:spPr>
          <a:xfrm xmlns:a="http://schemas.openxmlformats.org/drawingml/2006/main">
            <a:off x="972000" y="5112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7A740">
              <a:alpha val="14000"/>
            </a:srgbClr>
          </a:solidFill>
          <a:ln xmlns:a="http://schemas.openxmlformats.org/drawingml/2006/main" w="762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6" name="TextBox 21"/>
          <p:cNvSpPr txBox="1"/>
          <p:nvPr/>
        </p:nvSpPr>
        <p:spPr>
          <a:xfrm xmlns:a="http://schemas.openxmlformats.org/drawingml/2006/main">
            <a:off x="1296000" y="5234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注意：旁邊如果有其他磁鐵或一大塊鐵，指針就會被拉偏，不再準確指向南北。</a:t>
            </a:r>
          </a:p>
        </p:txBody>
      </p:sp>
      <p:sp>
        <p:nvSpPr>
          <p:cNvPr id="100303" name="TextBox 22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04" name="TextBox 23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09 / 15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16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490e1ed1245a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168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45A69F"/>
                </a:solidFill>
                <a:latin typeface="源石黑體月 H"/>
                <a:ea typeface="源石黑體月 H"/>
              </a:rPr>
              <a:t>任務四・實驗</a:t>
            </a:r>
          </a:p>
        </p:txBody>
      </p:sp>
      <p:sp>
        <p:nvSpPr>
          <p:cNvPr id="100169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磁力能穿過東西嗎？</a:t>
            </a:r>
          </a:p>
        </p:txBody>
      </p:sp>
      <p:sp>
        <p:nvSpPr>
          <p:cNvPr id="100170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1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可以——但要看你用什麼擋在中間。</a:t>
            </a:r>
          </a:p>
        </p:txBody>
      </p:sp>
      <p:sp>
        <p:nvSpPr>
          <p:cNvPr id="100172" name="TextBox 5"/>
          <p:cNvSpPr/>
          <p:nvPr/>
        </p:nvSpPr>
        <p:spPr>
          <a:xfrm xmlns:a="http://schemas.openxmlformats.org/drawingml/2006/main">
            <a:off x="97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3" name="TextBox 6"/>
          <p:cNvSpPr/>
          <p:nvPr/>
        </p:nvSpPr>
        <p:spPr>
          <a:xfrm xmlns:a="http://schemas.openxmlformats.org/drawingml/2006/main">
            <a:off x="118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4" name="TextBox 7"/>
          <p:cNvSpPr txBox="1"/>
          <p:nvPr/>
        </p:nvSpPr>
        <p:spPr>
          <a:xfrm xmlns:a="http://schemas.openxmlformats.org/drawingml/2006/main">
            <a:off x="118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穿得過</a:t>
            </a:r>
          </a:p>
        </p:txBody>
      </p:sp>
      <p:sp>
        <p:nvSpPr>
          <p:cNvPr id="100175" name="TextBox 8"/>
          <p:cNvSpPr txBox="1"/>
          <p:nvPr/>
        </p:nvSpPr>
        <p:spPr>
          <a:xfrm xmlns:a="http://schemas.openxmlformats.org/drawingml/2006/main">
            <a:off x="118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紙、塑膠片、玻璃、水、薄木板——磁力照樣吸得住。</a:t>
            </a:r>
          </a:p>
        </p:txBody>
      </p:sp>
      <p:sp>
        <p:nvSpPr>
          <p:cNvPr id="100176" name="TextBox 9"/>
          <p:cNvSpPr/>
          <p:nvPr/>
        </p:nvSpPr>
        <p:spPr>
          <a:xfrm xmlns:a="http://schemas.openxmlformats.org/drawingml/2006/main">
            <a:off x="445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7" name="TextBox 10"/>
          <p:cNvSpPr/>
          <p:nvPr/>
        </p:nvSpPr>
        <p:spPr>
          <a:xfrm xmlns:a="http://schemas.openxmlformats.org/drawingml/2006/main">
            <a:off x="466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8" name="TextBox 11"/>
          <p:cNvSpPr txBox="1"/>
          <p:nvPr/>
        </p:nvSpPr>
        <p:spPr>
          <a:xfrm xmlns:a="http://schemas.openxmlformats.org/drawingml/2006/main">
            <a:off x="466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穿不過</a:t>
            </a:r>
          </a:p>
        </p:txBody>
      </p:sp>
      <p:sp>
        <p:nvSpPr>
          <p:cNvPr id="100179" name="TextBox 12"/>
          <p:cNvSpPr txBox="1"/>
          <p:nvPr/>
        </p:nvSpPr>
        <p:spPr>
          <a:xfrm xmlns:a="http://schemas.openxmlformats.org/drawingml/2006/main">
            <a:off x="466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太厚的鐵或鋼板會把磁力「接走」，後面的鐵就吸不動了。</a:t>
            </a:r>
          </a:p>
        </p:txBody>
      </p:sp>
      <p:sp>
        <p:nvSpPr>
          <p:cNvPr id="100180" name="TextBox 13"/>
          <p:cNvSpPr/>
          <p:nvPr/>
        </p:nvSpPr>
        <p:spPr>
          <a:xfrm xmlns:a="http://schemas.openxmlformats.org/drawingml/2006/main">
            <a:off x="793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1" name="TextBox 14"/>
          <p:cNvSpPr/>
          <p:nvPr/>
        </p:nvSpPr>
        <p:spPr>
          <a:xfrm xmlns:a="http://schemas.openxmlformats.org/drawingml/2006/main">
            <a:off x="814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69F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2" name="TextBox 15"/>
          <p:cNvSpPr txBox="1"/>
          <p:nvPr/>
        </p:nvSpPr>
        <p:spPr>
          <a:xfrm xmlns:a="http://schemas.openxmlformats.org/drawingml/2006/main">
            <a:off x="814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生活應用</a:t>
            </a:r>
          </a:p>
        </p:txBody>
      </p:sp>
      <p:sp>
        <p:nvSpPr>
          <p:cNvPr id="100183" name="TextBox 16"/>
          <p:cNvSpPr txBox="1"/>
          <p:nvPr/>
        </p:nvSpPr>
        <p:spPr>
          <a:xfrm xmlns:a="http://schemas.openxmlformats.org/drawingml/2006/main">
            <a:off x="814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隔著紙盒玩磁力迷宮、冰箱門內外、磁性門扣。</a:t>
            </a:r>
          </a:p>
        </p:txBody>
      </p:sp>
      <p:sp>
        <p:nvSpPr>
          <p:cNvPr id="100184" name="TextBox 17"/>
          <p:cNvSpPr/>
          <p:nvPr/>
        </p:nvSpPr>
        <p:spPr>
          <a:xfrm xmlns:a="http://schemas.openxmlformats.org/drawingml/2006/main">
            <a:off x="972000" y="4896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5A69F">
              <a:alpha val="14000"/>
            </a:srgbClr>
          </a:solidFill>
          <a:ln xmlns:a="http://schemas.openxmlformats.org/drawingml/2006/main" w="762">
            <a:solidFill>
              <a:srgbClr val="45A69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5" name="TextBox 18"/>
          <p:cNvSpPr txBox="1"/>
          <p:nvPr/>
        </p:nvSpPr>
        <p:spPr>
          <a:xfrm xmlns:a="http://schemas.openxmlformats.org/drawingml/2006/main">
            <a:off x="1296000" y="5018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實驗設計：把迴紋針放在杯底，磁鐵在杯外移動——水、玻璃都擋不住磁力。</a:t>
            </a:r>
          </a:p>
        </p:txBody>
      </p:sp>
      <p:sp>
        <p:nvSpPr>
          <p:cNvPr id="100305" name="TextBox 19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06" name="TextBox 20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10 / 15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18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1c323854548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187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7B4BB7"/>
                </a:solidFill>
                <a:latin typeface="源石黑體月 H"/>
                <a:ea typeface="源石黑體月 H"/>
              </a:rPr>
              <a:t>任務五・延伸</a:t>
            </a:r>
          </a:p>
        </p:txBody>
      </p:sp>
      <p:sp>
        <p:nvSpPr>
          <p:cNvPr id="100188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鐵，也能變成磁鐵</a:t>
            </a:r>
          </a:p>
        </p:txBody>
      </p:sp>
      <p:sp>
        <p:nvSpPr>
          <p:cNvPr id="100189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B7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0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磁鐵不只會吸鐵，還能「教」鐵變成磁鐵。</a:t>
            </a:r>
          </a:p>
        </p:txBody>
      </p:sp>
      <p:sp>
        <p:nvSpPr>
          <p:cNvPr id="100191" name="TextBox 5"/>
          <p:cNvSpPr/>
          <p:nvPr/>
        </p:nvSpPr>
        <p:spPr>
          <a:xfrm xmlns:a="http://schemas.openxmlformats.org/drawingml/2006/main">
            <a:off x="972000" y="2304000"/>
            <a:ext cx="10224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2" name="TextBox 6"/>
          <p:cNvSpPr/>
          <p:nvPr/>
        </p:nvSpPr>
        <p:spPr>
          <a:xfrm xmlns:a="http://schemas.openxmlformats.org/drawingml/2006/main">
            <a:off x="1170000" y="2403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4B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3" name="TextBox 7"/>
          <p:cNvSpPr txBox="1"/>
          <p:nvPr/>
        </p:nvSpPr>
        <p:spPr>
          <a:xfrm xmlns:a="http://schemas.openxmlformats.org/drawingml/2006/main">
            <a:off x="1170000" y="2403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1</a:t>
            </a:r>
          </a:p>
        </p:txBody>
      </p:sp>
      <p:sp>
        <p:nvSpPr>
          <p:cNvPr id="100194" name="TextBox 8"/>
          <p:cNvSpPr txBox="1"/>
          <p:nvPr/>
        </p:nvSpPr>
        <p:spPr>
          <a:xfrm xmlns:a="http://schemas.openxmlformats.org/drawingml/2006/main">
            <a:off x="1818000" y="2383200"/>
            <a:ext cx="3816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摩擦法</a:t>
            </a:r>
          </a:p>
        </p:txBody>
      </p:sp>
      <p:sp>
        <p:nvSpPr>
          <p:cNvPr id="100195" name="TextBox 9"/>
          <p:cNvSpPr txBox="1"/>
          <p:nvPr/>
        </p:nvSpPr>
        <p:spPr>
          <a:xfrm xmlns:a="http://schemas.openxmlformats.org/drawingml/2006/main">
            <a:off x="5724000" y="2383200"/>
            <a:ext cx="5328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拿鐵釘在磁鐵上，同一個方向摩擦 20 次。</a:t>
            </a:r>
          </a:p>
        </p:txBody>
      </p:sp>
      <p:sp>
        <p:nvSpPr>
          <p:cNvPr id="100196" name="TextBox 10"/>
          <p:cNvSpPr/>
          <p:nvPr/>
        </p:nvSpPr>
        <p:spPr>
          <a:xfrm xmlns:a="http://schemas.openxmlformats.org/drawingml/2006/main">
            <a:off x="972000" y="3168000"/>
            <a:ext cx="10224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7" name="TextBox 11"/>
          <p:cNvSpPr/>
          <p:nvPr/>
        </p:nvSpPr>
        <p:spPr>
          <a:xfrm xmlns:a="http://schemas.openxmlformats.org/drawingml/2006/main">
            <a:off x="1170000" y="3267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4B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8" name="TextBox 12"/>
          <p:cNvSpPr txBox="1"/>
          <p:nvPr/>
        </p:nvSpPr>
        <p:spPr>
          <a:xfrm xmlns:a="http://schemas.openxmlformats.org/drawingml/2006/main">
            <a:off x="1170000" y="3267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2</a:t>
            </a:r>
          </a:p>
        </p:txBody>
      </p:sp>
      <p:sp>
        <p:nvSpPr>
          <p:cNvPr id="100199" name="TextBox 13"/>
          <p:cNvSpPr txBox="1"/>
          <p:nvPr/>
        </p:nvSpPr>
        <p:spPr>
          <a:xfrm xmlns:a="http://schemas.openxmlformats.org/drawingml/2006/main">
            <a:off x="1818000" y="3247200"/>
            <a:ext cx="3816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接觸法</a:t>
            </a:r>
          </a:p>
        </p:txBody>
      </p:sp>
      <p:sp>
        <p:nvSpPr>
          <p:cNvPr id="100200" name="TextBox 14"/>
          <p:cNvSpPr txBox="1"/>
          <p:nvPr/>
        </p:nvSpPr>
        <p:spPr>
          <a:xfrm xmlns:a="http://schemas.openxmlformats.org/drawingml/2006/main">
            <a:off x="5724000" y="3247200"/>
            <a:ext cx="5328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把鐵釘貼在磁鐵上放一會兒，它也會吸住迴紋針。</a:t>
            </a:r>
          </a:p>
        </p:txBody>
      </p:sp>
      <p:sp>
        <p:nvSpPr>
          <p:cNvPr id="100201" name="TextBox 15"/>
          <p:cNvSpPr/>
          <p:nvPr/>
        </p:nvSpPr>
        <p:spPr>
          <a:xfrm xmlns:a="http://schemas.openxmlformats.org/drawingml/2006/main">
            <a:off x="972000" y="4032000"/>
            <a:ext cx="10224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2" name="TextBox 16"/>
          <p:cNvSpPr/>
          <p:nvPr/>
        </p:nvSpPr>
        <p:spPr>
          <a:xfrm xmlns:a="http://schemas.openxmlformats.org/drawingml/2006/main">
            <a:off x="1170000" y="4131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B4BB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3" name="TextBox 17"/>
          <p:cNvSpPr txBox="1"/>
          <p:nvPr/>
        </p:nvSpPr>
        <p:spPr>
          <a:xfrm xmlns:a="http://schemas.openxmlformats.org/drawingml/2006/main">
            <a:off x="1170000" y="4131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3</a:t>
            </a:r>
          </a:p>
        </p:txBody>
      </p:sp>
      <p:sp>
        <p:nvSpPr>
          <p:cNvPr id="100204" name="TextBox 18"/>
          <p:cNvSpPr txBox="1"/>
          <p:nvPr/>
        </p:nvSpPr>
        <p:spPr>
          <a:xfrm xmlns:a="http://schemas.openxmlformats.org/drawingml/2006/main">
            <a:off x="1818000" y="4111200"/>
            <a:ext cx="3816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會消失</a:t>
            </a:r>
          </a:p>
        </p:txBody>
      </p:sp>
      <p:sp>
        <p:nvSpPr>
          <p:cNvPr id="100205" name="TextBox 19"/>
          <p:cNvSpPr txBox="1"/>
          <p:nvPr/>
        </p:nvSpPr>
        <p:spPr>
          <a:xfrm xmlns:a="http://schemas.openxmlformats.org/drawingml/2006/main">
            <a:off x="5724000" y="4111200"/>
            <a:ext cx="5328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拿開磁鐵後，鐵釘的磁性會慢慢消失——這叫「暫時磁化」。</a:t>
            </a:r>
          </a:p>
        </p:txBody>
      </p:sp>
      <p:sp>
        <p:nvSpPr>
          <p:cNvPr id="100206" name="TextBox 20"/>
          <p:cNvSpPr/>
          <p:nvPr/>
        </p:nvSpPr>
        <p:spPr>
          <a:xfrm xmlns:a="http://schemas.openxmlformats.org/drawingml/2006/main">
            <a:off x="972000" y="5040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4BB7">
              <a:alpha val="14000"/>
            </a:srgbClr>
          </a:solidFill>
          <a:ln xmlns:a="http://schemas.openxmlformats.org/drawingml/2006/main" w="762">
            <a:solidFill>
              <a:srgbClr val="7B4BB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7" name="TextBox 21"/>
          <p:cNvSpPr txBox="1"/>
          <p:nvPr/>
        </p:nvSpPr>
        <p:spPr>
          <a:xfrm xmlns:a="http://schemas.openxmlformats.org/drawingml/2006/main">
            <a:off x="1296000" y="5162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想一想：為什麼螺絲起子前端常帶磁性？因為可以先把螺絲「吸」在起子上，單手就能鎖。</a:t>
            </a:r>
          </a:p>
        </p:txBody>
      </p:sp>
      <p:sp>
        <p:nvSpPr>
          <p:cNvPr id="100307" name="TextBox 22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08" name="TextBox 23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11 / 15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20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6c00e154347e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209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B8602A"/>
                </a:solidFill>
                <a:latin typeface="源石黑體月 H"/>
                <a:ea typeface="源石黑體月 H"/>
              </a:rPr>
              <a:t>任務五・保養</a:t>
            </a:r>
          </a:p>
        </p:txBody>
      </p:sp>
      <p:sp>
        <p:nvSpPr>
          <p:cNvPr id="100210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磁鐵為什麼會變弱？</a:t>
            </a:r>
          </a:p>
        </p:txBody>
      </p:sp>
      <p:sp>
        <p:nvSpPr>
          <p:cNvPr id="100211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02A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2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磁力不是永遠不變——有些動作會讓它慢慢失效。</a:t>
            </a:r>
          </a:p>
        </p:txBody>
      </p:sp>
      <p:sp>
        <p:nvSpPr>
          <p:cNvPr id="100213" name="TextBox 5"/>
          <p:cNvSpPr/>
          <p:nvPr/>
        </p:nvSpPr>
        <p:spPr>
          <a:xfrm xmlns:a="http://schemas.openxmlformats.org/drawingml/2006/main">
            <a:off x="972000" y="2304000"/>
            <a:ext cx="10224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4" name="TextBox 6"/>
          <p:cNvSpPr/>
          <p:nvPr/>
        </p:nvSpPr>
        <p:spPr>
          <a:xfrm xmlns:a="http://schemas.openxmlformats.org/drawingml/2006/main">
            <a:off x="1170000" y="2403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0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5" name="TextBox 7"/>
          <p:cNvSpPr txBox="1"/>
          <p:nvPr/>
        </p:nvSpPr>
        <p:spPr>
          <a:xfrm xmlns:a="http://schemas.openxmlformats.org/drawingml/2006/main">
            <a:off x="1170000" y="2403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1</a:t>
            </a:r>
          </a:p>
        </p:txBody>
      </p:sp>
      <p:sp>
        <p:nvSpPr>
          <p:cNvPr id="100216" name="TextBox 8"/>
          <p:cNvSpPr txBox="1"/>
          <p:nvPr/>
        </p:nvSpPr>
        <p:spPr>
          <a:xfrm xmlns:a="http://schemas.openxmlformats.org/drawingml/2006/main">
            <a:off x="1818000" y="2383200"/>
            <a:ext cx="3816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加熱</a:t>
            </a:r>
          </a:p>
        </p:txBody>
      </p:sp>
      <p:sp>
        <p:nvSpPr>
          <p:cNvPr id="100217" name="TextBox 9"/>
          <p:cNvSpPr txBox="1"/>
          <p:nvPr/>
        </p:nvSpPr>
        <p:spPr>
          <a:xfrm xmlns:a="http://schemas.openxmlformats.org/drawingml/2006/main">
            <a:off x="5724000" y="2383200"/>
            <a:ext cx="5328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用火烤或放在很熱的地方，磁力會明顯減弱。</a:t>
            </a:r>
          </a:p>
        </p:txBody>
      </p:sp>
      <p:sp>
        <p:nvSpPr>
          <p:cNvPr id="100218" name="TextBox 10"/>
          <p:cNvSpPr/>
          <p:nvPr/>
        </p:nvSpPr>
        <p:spPr>
          <a:xfrm xmlns:a="http://schemas.openxmlformats.org/drawingml/2006/main">
            <a:off x="972000" y="3168000"/>
            <a:ext cx="10224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9" name="TextBox 11"/>
          <p:cNvSpPr/>
          <p:nvPr/>
        </p:nvSpPr>
        <p:spPr>
          <a:xfrm xmlns:a="http://schemas.openxmlformats.org/drawingml/2006/main">
            <a:off x="1170000" y="3267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0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0" name="TextBox 12"/>
          <p:cNvSpPr txBox="1"/>
          <p:nvPr/>
        </p:nvSpPr>
        <p:spPr>
          <a:xfrm xmlns:a="http://schemas.openxmlformats.org/drawingml/2006/main">
            <a:off x="1170000" y="3267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2</a:t>
            </a:r>
          </a:p>
        </p:txBody>
      </p:sp>
      <p:sp>
        <p:nvSpPr>
          <p:cNvPr id="100221" name="TextBox 13"/>
          <p:cNvSpPr txBox="1"/>
          <p:nvPr/>
        </p:nvSpPr>
        <p:spPr>
          <a:xfrm xmlns:a="http://schemas.openxmlformats.org/drawingml/2006/main">
            <a:off x="1818000" y="3247200"/>
            <a:ext cx="3816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撞擊</a:t>
            </a:r>
          </a:p>
        </p:txBody>
      </p:sp>
      <p:sp>
        <p:nvSpPr>
          <p:cNvPr id="100222" name="TextBox 14"/>
          <p:cNvSpPr txBox="1"/>
          <p:nvPr/>
        </p:nvSpPr>
        <p:spPr>
          <a:xfrm xmlns:a="http://schemas.openxmlformats.org/drawingml/2006/main">
            <a:off x="5724000" y="3247200"/>
            <a:ext cx="5328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重摔、用力敲打，磁鐵內部的排列被打亂。</a:t>
            </a:r>
          </a:p>
        </p:txBody>
      </p:sp>
      <p:sp>
        <p:nvSpPr>
          <p:cNvPr id="100223" name="TextBox 15"/>
          <p:cNvSpPr/>
          <p:nvPr/>
        </p:nvSpPr>
        <p:spPr>
          <a:xfrm xmlns:a="http://schemas.openxmlformats.org/drawingml/2006/main">
            <a:off x="972000" y="4032000"/>
            <a:ext cx="10224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0000"/>
            </a:srgbClr>
          </a:solidFill>
          <a:ln xmlns:a="http://schemas.openxmlformats.org/drawingml/2006/main" w="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4" name="TextBox 16"/>
          <p:cNvSpPr/>
          <p:nvPr/>
        </p:nvSpPr>
        <p:spPr>
          <a:xfrm xmlns:a="http://schemas.openxmlformats.org/drawingml/2006/main">
            <a:off x="1170000" y="4131000"/>
            <a:ext cx="522000" cy="52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60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5" name="TextBox 17"/>
          <p:cNvSpPr txBox="1"/>
          <p:nvPr/>
        </p:nvSpPr>
        <p:spPr>
          <a:xfrm xmlns:a="http://schemas.openxmlformats.org/drawingml/2006/main">
            <a:off x="1170000" y="4131000"/>
            <a:ext cx="522000" cy="52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14100C"/>
                </a:solidFill>
                <a:latin typeface="源石黑體月 H"/>
                <a:ea typeface="源石黑體月 H"/>
              </a:rPr>
              <a:t>3</a:t>
            </a:r>
          </a:p>
        </p:txBody>
      </p:sp>
      <p:sp>
        <p:nvSpPr>
          <p:cNvPr id="100226" name="TextBox 18"/>
          <p:cNvSpPr txBox="1"/>
          <p:nvPr/>
        </p:nvSpPr>
        <p:spPr>
          <a:xfrm xmlns:a="http://schemas.openxmlformats.org/drawingml/2006/main">
            <a:off x="1818000" y="4111200"/>
            <a:ext cx="3816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" b="1">
                <a:solidFill>
                  <a:srgbClr val="F2F0EA"/>
                </a:solidFill>
                <a:latin typeface="源石黑體月 H"/>
                <a:ea typeface="源石黑體月 H"/>
              </a:rPr>
              <a:t>亂放</a:t>
            </a:r>
          </a:p>
        </p:txBody>
      </p:sp>
      <p:sp>
        <p:nvSpPr>
          <p:cNvPr id="100227" name="TextBox 19"/>
          <p:cNvSpPr txBox="1"/>
          <p:nvPr/>
        </p:nvSpPr>
        <p:spPr>
          <a:xfrm xmlns:a="http://schemas.openxmlformats.org/drawingml/2006/main">
            <a:off x="5724000" y="4111200"/>
            <a:ext cx="5328000" cy="5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長期和其他磁鐵隨便堆疊，也會讓磁性變弱；成對、同極相鄰收納較好。</a:t>
            </a:r>
          </a:p>
        </p:txBody>
      </p:sp>
      <p:sp>
        <p:nvSpPr>
          <p:cNvPr id="100228" name="TextBox 20"/>
          <p:cNvSpPr/>
          <p:nvPr/>
        </p:nvSpPr>
        <p:spPr>
          <a:xfrm xmlns:a="http://schemas.openxmlformats.org/drawingml/2006/main">
            <a:off x="972000" y="5040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602A">
              <a:alpha val="14000"/>
            </a:srgbClr>
          </a:solidFill>
          <a:ln xmlns:a="http://schemas.openxmlformats.org/drawingml/2006/main" w="762">
            <a:solidFill>
              <a:srgbClr val="B8602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9" name="TextBox 21"/>
          <p:cNvSpPr txBox="1"/>
          <p:nvPr/>
        </p:nvSpPr>
        <p:spPr>
          <a:xfrm xmlns:a="http://schemas.openxmlformats.org/drawingml/2006/main">
            <a:off x="1296000" y="5162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保養四招：不摔、不烤、成對收、遠離手錶與卡片（磁條會被消磁）。</a:t>
            </a:r>
          </a:p>
        </p:txBody>
      </p:sp>
      <p:sp>
        <p:nvSpPr>
          <p:cNvPr id="100309" name="TextBox 22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10" name="TextBox 23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12 / 15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23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ecf1b407d4bd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231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449B51"/>
                </a:solidFill>
                <a:latin typeface="源石黑體月 H"/>
                <a:ea typeface="源石黑體月 H"/>
              </a:rPr>
              <a:t>任務五・應用（一）</a:t>
            </a:r>
          </a:p>
        </p:txBody>
      </p:sp>
      <p:sp>
        <p:nvSpPr>
          <p:cNvPr id="100232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生活裡的磁鐵小幫手</a:t>
            </a:r>
          </a:p>
        </p:txBody>
      </p:sp>
      <p:sp>
        <p:nvSpPr>
          <p:cNvPr id="100233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9B51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4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最好的發明，通常小到你沒發現它是磁鐵。</a:t>
            </a:r>
          </a:p>
        </p:txBody>
      </p:sp>
      <p:sp>
        <p:nvSpPr>
          <p:cNvPr id="100235" name="TextBox 5"/>
          <p:cNvSpPr/>
          <p:nvPr/>
        </p:nvSpPr>
        <p:spPr>
          <a:xfrm xmlns:a="http://schemas.openxmlformats.org/drawingml/2006/main">
            <a:off x="97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6" name="TextBox 6"/>
          <p:cNvSpPr/>
          <p:nvPr/>
        </p:nvSpPr>
        <p:spPr>
          <a:xfrm xmlns:a="http://schemas.openxmlformats.org/drawingml/2006/main">
            <a:off x="118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9B51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7" name="TextBox 7"/>
          <p:cNvSpPr txBox="1"/>
          <p:nvPr/>
        </p:nvSpPr>
        <p:spPr>
          <a:xfrm xmlns:a="http://schemas.openxmlformats.org/drawingml/2006/main">
            <a:off x="118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固定東西</a:t>
            </a:r>
          </a:p>
        </p:txBody>
      </p:sp>
      <p:sp>
        <p:nvSpPr>
          <p:cNvPr id="100238" name="TextBox 8"/>
          <p:cNvSpPr txBox="1"/>
          <p:nvPr/>
        </p:nvSpPr>
        <p:spPr>
          <a:xfrm xmlns:a="http://schemas.openxmlformats.org/drawingml/2006/main">
            <a:off x="118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冰箱磁鐵貼、磁性門擋、窗簾磁扣、包包磁扣。</a:t>
            </a:r>
          </a:p>
        </p:txBody>
      </p:sp>
      <p:sp>
        <p:nvSpPr>
          <p:cNvPr id="100239" name="TextBox 9"/>
          <p:cNvSpPr/>
          <p:nvPr/>
        </p:nvSpPr>
        <p:spPr>
          <a:xfrm xmlns:a="http://schemas.openxmlformats.org/drawingml/2006/main">
            <a:off x="445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0" name="TextBox 10"/>
          <p:cNvSpPr/>
          <p:nvPr/>
        </p:nvSpPr>
        <p:spPr>
          <a:xfrm xmlns:a="http://schemas.openxmlformats.org/drawingml/2006/main">
            <a:off x="466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9B51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1" name="TextBox 11"/>
          <p:cNvSpPr txBox="1"/>
          <p:nvPr/>
        </p:nvSpPr>
        <p:spPr>
          <a:xfrm xmlns:a="http://schemas.openxmlformats.org/drawingml/2006/main">
            <a:off x="466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收納整理</a:t>
            </a:r>
          </a:p>
        </p:txBody>
      </p:sp>
      <p:sp>
        <p:nvSpPr>
          <p:cNvPr id="100242" name="TextBox 12"/>
          <p:cNvSpPr txBox="1"/>
          <p:nvPr/>
        </p:nvSpPr>
        <p:spPr>
          <a:xfrm xmlns:a="http://schemas.openxmlformats.org/drawingml/2006/main">
            <a:off x="466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鉛筆盒磁扣、磁性收納條、工具掛架、磁性刀架。</a:t>
            </a:r>
          </a:p>
        </p:txBody>
      </p:sp>
      <p:sp>
        <p:nvSpPr>
          <p:cNvPr id="100243" name="TextBox 13"/>
          <p:cNvSpPr/>
          <p:nvPr/>
        </p:nvSpPr>
        <p:spPr>
          <a:xfrm xmlns:a="http://schemas.openxmlformats.org/drawingml/2006/main">
            <a:off x="793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4" name="TextBox 14"/>
          <p:cNvSpPr/>
          <p:nvPr/>
        </p:nvSpPr>
        <p:spPr>
          <a:xfrm xmlns:a="http://schemas.openxmlformats.org/drawingml/2006/main">
            <a:off x="814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9B51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5" name="TextBox 15"/>
          <p:cNvSpPr txBox="1"/>
          <p:nvPr/>
        </p:nvSpPr>
        <p:spPr>
          <a:xfrm xmlns:a="http://schemas.openxmlformats.org/drawingml/2006/main">
            <a:off x="814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好玩好學</a:t>
            </a:r>
          </a:p>
        </p:txBody>
      </p:sp>
      <p:sp>
        <p:nvSpPr>
          <p:cNvPr id="100246" name="TextBox 16"/>
          <p:cNvSpPr txBox="1"/>
          <p:nvPr/>
        </p:nvSpPr>
        <p:spPr>
          <a:xfrm xmlns:a="http://schemas.openxmlformats.org/drawingml/2006/main">
            <a:off x="814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磁力釣魚、磁力迷宮、磁浮玩具、磁性七巧板。</a:t>
            </a:r>
          </a:p>
        </p:txBody>
      </p:sp>
      <p:sp>
        <p:nvSpPr>
          <p:cNvPr id="100247" name="TextBox 17"/>
          <p:cNvSpPr/>
          <p:nvPr/>
        </p:nvSpPr>
        <p:spPr>
          <a:xfrm xmlns:a="http://schemas.openxmlformats.org/drawingml/2006/main">
            <a:off x="972000" y="4860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49B51">
              <a:alpha val="14000"/>
            </a:srgbClr>
          </a:solidFill>
          <a:ln xmlns:a="http://schemas.openxmlformats.org/drawingml/2006/main" w="762">
            <a:solidFill>
              <a:srgbClr val="449B5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8" name="TextBox 18"/>
          <p:cNvSpPr txBox="1"/>
          <p:nvPr/>
        </p:nvSpPr>
        <p:spPr>
          <a:xfrm xmlns:a="http://schemas.openxmlformats.org/drawingml/2006/main">
            <a:off x="1296000" y="4982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課堂任務：選一個生活磁鐵用品，畫出它「哪裡是磁鐵、哪裡是鐵片」，並說明為什麼要這樣設計。</a:t>
            </a:r>
          </a:p>
        </p:txBody>
      </p:sp>
      <p:sp>
        <p:nvSpPr>
          <p:cNvPr id="100311" name="TextBox 19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12" name="TextBox 20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13 / 15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24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400030a0294e6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250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7B4BB7"/>
                </a:solidFill>
                <a:latin typeface="源石黑體月 H"/>
                <a:ea typeface="源石黑體月 H"/>
              </a:rPr>
              <a:t>任務五・應用（二）</a:t>
            </a:r>
          </a:p>
        </p:txBody>
      </p:sp>
      <p:sp>
        <p:nvSpPr>
          <p:cNvPr id="100251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藏在科技裡的磁鐵</a:t>
            </a:r>
          </a:p>
        </p:txBody>
      </p:sp>
      <p:sp>
        <p:nvSpPr>
          <p:cNvPr id="100252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B7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3" name="TextBox 4"/>
          <p:cNvSpPr txBox="1"/>
          <p:nvPr/>
        </p:nvSpPr>
        <p:spPr>
          <a:xfrm xmlns:a="http://schemas.openxmlformats.org/drawingml/2006/main">
            <a:off x="972000" y="1782000"/>
            <a:ext cx="98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</a:pPr>
            <a:r>
              <a:rPr lang="en-US" sz="1450">
                <a:solidFill>
                  <a:srgbClr val="C9BFA8"/>
                </a:solidFill>
                <a:latin typeface="源石黑體月 M"/>
                <a:ea typeface="源石黑體月 M"/>
              </a:rPr>
              <a:t>馬達、喇叭、列車、醫院——磁鐵撐起了現代生活。</a:t>
            </a:r>
          </a:p>
        </p:txBody>
      </p:sp>
      <p:sp>
        <p:nvSpPr>
          <p:cNvPr id="100254" name="TextBox 5"/>
          <p:cNvSpPr/>
          <p:nvPr/>
        </p:nvSpPr>
        <p:spPr>
          <a:xfrm xmlns:a="http://schemas.openxmlformats.org/drawingml/2006/main">
            <a:off x="97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5" name="TextBox 6"/>
          <p:cNvSpPr/>
          <p:nvPr/>
        </p:nvSpPr>
        <p:spPr>
          <a:xfrm xmlns:a="http://schemas.openxmlformats.org/drawingml/2006/main">
            <a:off x="118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B7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6" name="TextBox 7"/>
          <p:cNvSpPr txBox="1"/>
          <p:nvPr/>
        </p:nvSpPr>
        <p:spPr>
          <a:xfrm xmlns:a="http://schemas.openxmlformats.org/drawingml/2006/main">
            <a:off x="118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馬達與聲音</a:t>
            </a:r>
          </a:p>
        </p:txBody>
      </p:sp>
      <p:sp>
        <p:nvSpPr>
          <p:cNvPr id="100257" name="TextBox 8"/>
          <p:cNvSpPr txBox="1"/>
          <p:nvPr/>
        </p:nvSpPr>
        <p:spPr>
          <a:xfrm xmlns:a="http://schemas.openxmlformats.org/drawingml/2006/main">
            <a:off x="118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電風扇、玩具車、洗衣機的馬達；喇叭與耳機靠磁鐵推動振膜。</a:t>
            </a:r>
          </a:p>
        </p:txBody>
      </p:sp>
      <p:sp>
        <p:nvSpPr>
          <p:cNvPr id="100258" name="TextBox 9"/>
          <p:cNvSpPr/>
          <p:nvPr/>
        </p:nvSpPr>
        <p:spPr>
          <a:xfrm xmlns:a="http://schemas.openxmlformats.org/drawingml/2006/main">
            <a:off x="445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9" name="TextBox 10"/>
          <p:cNvSpPr/>
          <p:nvPr/>
        </p:nvSpPr>
        <p:spPr>
          <a:xfrm xmlns:a="http://schemas.openxmlformats.org/drawingml/2006/main">
            <a:off x="466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B7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0" name="TextBox 11"/>
          <p:cNvSpPr txBox="1"/>
          <p:nvPr/>
        </p:nvSpPr>
        <p:spPr>
          <a:xfrm xmlns:a="http://schemas.openxmlformats.org/drawingml/2006/main">
            <a:off x="466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磁浮列車</a:t>
            </a:r>
          </a:p>
        </p:txBody>
      </p:sp>
      <p:sp>
        <p:nvSpPr>
          <p:cNvPr id="100261" name="TextBox 12"/>
          <p:cNvSpPr txBox="1"/>
          <p:nvPr/>
        </p:nvSpPr>
        <p:spPr>
          <a:xfrm xmlns:a="http://schemas.openxmlformats.org/drawingml/2006/main">
            <a:off x="466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用同極相斥把車體撐離軌道，幾乎沒有摩擦，速度可以非常快。</a:t>
            </a:r>
          </a:p>
        </p:txBody>
      </p:sp>
      <p:sp>
        <p:nvSpPr>
          <p:cNvPr id="100262" name="TextBox 13"/>
          <p:cNvSpPr/>
          <p:nvPr/>
        </p:nvSpPr>
        <p:spPr>
          <a:xfrm xmlns:a="http://schemas.openxmlformats.org/drawingml/2006/main">
            <a:off x="7932000" y="2340000"/>
            <a:ext cx="3264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3" name="TextBox 14"/>
          <p:cNvSpPr/>
          <p:nvPr/>
        </p:nvSpPr>
        <p:spPr>
          <a:xfrm xmlns:a="http://schemas.openxmlformats.org/drawingml/2006/main">
            <a:off x="8148000" y="2538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4BB7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4" name="TextBox 15"/>
          <p:cNvSpPr txBox="1"/>
          <p:nvPr/>
        </p:nvSpPr>
        <p:spPr>
          <a:xfrm xmlns:a="http://schemas.openxmlformats.org/drawingml/2006/main">
            <a:off x="8148000" y="2700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醫療與能源</a:t>
            </a:r>
          </a:p>
        </p:txBody>
      </p:sp>
      <p:sp>
        <p:nvSpPr>
          <p:cNvPr id="100265" name="TextBox 16"/>
          <p:cNvSpPr txBox="1"/>
          <p:nvPr/>
        </p:nvSpPr>
        <p:spPr>
          <a:xfrm xmlns:a="http://schemas.openxmlformats.org/drawingml/2006/main">
            <a:off x="8148000" y="3114000"/>
            <a:ext cx="28320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MRI 核磁共振檢查、風力發電機、硬碟讀寫頭。</a:t>
            </a:r>
          </a:p>
        </p:txBody>
      </p:sp>
      <p:sp>
        <p:nvSpPr>
          <p:cNvPr id="100266" name="TextBox 17"/>
          <p:cNvSpPr/>
          <p:nvPr/>
        </p:nvSpPr>
        <p:spPr>
          <a:xfrm xmlns:a="http://schemas.openxmlformats.org/drawingml/2006/main">
            <a:off x="972000" y="4860000"/>
            <a:ext cx="10224000" cy="4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B4BB7">
              <a:alpha val="14000"/>
            </a:srgbClr>
          </a:solidFill>
          <a:ln xmlns:a="http://schemas.openxmlformats.org/drawingml/2006/main" w="762">
            <a:solidFill>
              <a:srgbClr val="7B4BB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7" name="TextBox 18"/>
          <p:cNvSpPr txBox="1"/>
          <p:nvPr/>
        </p:nvSpPr>
        <p:spPr>
          <a:xfrm xmlns:a="http://schemas.openxmlformats.org/drawingml/2006/main">
            <a:off x="1296000" y="4982400"/>
            <a:ext cx="9576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300">
                <a:solidFill>
                  <a:srgbClr val="E9DCAF"/>
                </a:solidFill>
                <a:latin typeface="源石黑體月 M"/>
                <a:ea typeface="源石黑體月 M"/>
              </a:rPr>
              <a:t>比較看看：一般磁鐵的磁力是「永久」且固定的；電磁鐵要通電才有磁力，而且可以開關、可以變強。</a:t>
            </a:r>
          </a:p>
        </p:txBody>
      </p:sp>
      <p:sp>
        <p:nvSpPr>
          <p:cNvPr id="100313" name="TextBox 19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14" name="TextBox 20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14 / 15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268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aeb7495c54c6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2192120" cy="6858000"/>
          </a:xfrm>
          <a:prstGeom xmlns:a="http://schemas.openxmlformats.org/drawingml/2006/main" prst="rect">
            <a:avLst/>
          </a:prstGeom>
        </p:spPr>
      </p:pic>
      <p:sp>
        <p:nvSpPr>
          <p:cNvPr id="100269" name="TextBox 1"/>
          <p:cNvSpPr txBox="1"/>
          <p:nvPr/>
        </p:nvSpPr>
        <p:spPr>
          <a:xfrm xmlns:a="http://schemas.openxmlformats.org/drawingml/2006/main">
            <a:off x="972000" y="486000"/>
            <a:ext cx="10224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100" b="1">
                <a:solidFill>
                  <a:srgbClr val="B7A740"/>
                </a:solidFill>
                <a:latin typeface="源石黑體月 H"/>
                <a:ea typeface="源石黑體月 H"/>
              </a:rPr>
              <a:t>單元總結</a:t>
            </a:r>
          </a:p>
        </p:txBody>
      </p:sp>
      <p:sp>
        <p:nvSpPr>
          <p:cNvPr id="100270" name="TextBox 2"/>
          <p:cNvSpPr txBox="1"/>
          <p:nvPr/>
        </p:nvSpPr>
        <p:spPr>
          <a:xfrm xmlns:a="http://schemas.openxmlformats.org/drawingml/2006/main">
            <a:off x="972000" y="774000"/>
            <a:ext cx="10224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3400" b="1">
                <a:solidFill>
                  <a:srgbClr val="F2F0EA"/>
                </a:solidFill>
                <a:latin typeface="源石黑體月 H"/>
                <a:ea typeface="源石黑體月 H"/>
              </a:rPr>
              <a:t>三句話，帶走整個單元</a:t>
            </a:r>
          </a:p>
        </p:txBody>
      </p:sp>
      <p:sp>
        <p:nvSpPr>
          <p:cNvPr id="100271" name="TextBox 3"/>
          <p:cNvSpPr/>
          <p:nvPr/>
        </p:nvSpPr>
        <p:spPr>
          <a:xfrm xmlns:a="http://schemas.openxmlformats.org/drawingml/2006/main">
            <a:off x="972000" y="1638000"/>
            <a:ext cx="936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2" name="TextBox 4"/>
          <p:cNvSpPr/>
          <p:nvPr/>
        </p:nvSpPr>
        <p:spPr>
          <a:xfrm xmlns:a="http://schemas.openxmlformats.org/drawingml/2006/main">
            <a:off x="972000" y="2016000"/>
            <a:ext cx="3264000" cy="17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3" name="TextBox 5"/>
          <p:cNvSpPr/>
          <p:nvPr/>
        </p:nvSpPr>
        <p:spPr>
          <a:xfrm xmlns:a="http://schemas.openxmlformats.org/drawingml/2006/main">
            <a:off x="1188000" y="221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4" name="TextBox 6"/>
          <p:cNvSpPr txBox="1"/>
          <p:nvPr/>
        </p:nvSpPr>
        <p:spPr>
          <a:xfrm xmlns:a="http://schemas.openxmlformats.org/drawingml/2006/main">
            <a:off x="1188000" y="237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① 只能吸含鐵物</a:t>
            </a:r>
          </a:p>
        </p:txBody>
      </p:sp>
      <p:sp>
        <p:nvSpPr>
          <p:cNvPr id="100275" name="TextBox 7"/>
          <p:cNvSpPr txBox="1"/>
          <p:nvPr/>
        </p:nvSpPr>
        <p:spPr>
          <a:xfrm xmlns:a="http://schemas.openxmlformats.org/drawingml/2006/main">
            <a:off x="1188000" y="2790000"/>
            <a:ext cx="2832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鐵、鈷、鎳可以；銅、鋁、金、銀、塑膠不行。</a:t>
            </a:r>
          </a:p>
        </p:txBody>
      </p:sp>
      <p:sp>
        <p:nvSpPr>
          <p:cNvPr id="100276" name="TextBox 8"/>
          <p:cNvSpPr/>
          <p:nvPr/>
        </p:nvSpPr>
        <p:spPr>
          <a:xfrm xmlns:a="http://schemas.openxmlformats.org/drawingml/2006/main">
            <a:off x="4452000" y="2016000"/>
            <a:ext cx="3264000" cy="17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7" name="TextBox 9"/>
          <p:cNvSpPr/>
          <p:nvPr/>
        </p:nvSpPr>
        <p:spPr>
          <a:xfrm xmlns:a="http://schemas.openxmlformats.org/drawingml/2006/main">
            <a:off x="4668000" y="221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8" name="TextBox 10"/>
          <p:cNvSpPr txBox="1"/>
          <p:nvPr/>
        </p:nvSpPr>
        <p:spPr>
          <a:xfrm xmlns:a="http://schemas.openxmlformats.org/drawingml/2006/main">
            <a:off x="4668000" y="237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② 磁極最強</a:t>
            </a:r>
          </a:p>
        </p:txBody>
      </p:sp>
      <p:sp>
        <p:nvSpPr>
          <p:cNvPr id="100279" name="TextBox 11"/>
          <p:cNvSpPr txBox="1"/>
          <p:nvPr/>
        </p:nvSpPr>
        <p:spPr>
          <a:xfrm xmlns:a="http://schemas.openxmlformats.org/drawingml/2006/main">
            <a:off x="4668000" y="2790000"/>
            <a:ext cx="2832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兩端最強、中間最弱；同極相斥、異極相吸。</a:t>
            </a:r>
          </a:p>
        </p:txBody>
      </p:sp>
      <p:sp>
        <p:nvSpPr>
          <p:cNvPr id="100280" name="TextBox 12"/>
          <p:cNvSpPr/>
          <p:nvPr/>
        </p:nvSpPr>
        <p:spPr>
          <a:xfrm xmlns:a="http://schemas.openxmlformats.org/drawingml/2006/main">
            <a:off x="7932000" y="2016000"/>
            <a:ext cx="3264000" cy="17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1310">
              <a:alpha val="84000"/>
            </a:srgbClr>
          </a:solidFill>
          <a:ln xmlns:a="http://schemas.openxmlformats.org/drawingml/2006/main" w="889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1" name="TextBox 13"/>
          <p:cNvSpPr/>
          <p:nvPr/>
        </p:nvSpPr>
        <p:spPr>
          <a:xfrm xmlns:a="http://schemas.openxmlformats.org/drawingml/2006/main">
            <a:off x="8148000" y="2214000"/>
            <a:ext cx="540000" cy="3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740">
              <a:alpha val="10000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2" name="TextBox 14"/>
          <p:cNvSpPr txBox="1"/>
          <p:nvPr/>
        </p:nvSpPr>
        <p:spPr>
          <a:xfrm xmlns:a="http://schemas.openxmlformats.org/drawingml/2006/main">
            <a:off x="8148000" y="2376000"/>
            <a:ext cx="2832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2F0EA"/>
                </a:solidFill>
                <a:latin typeface="源石黑體月 H"/>
                <a:ea typeface="源石黑體月 H"/>
              </a:rPr>
              <a:t>③ 能指方向、能穿透</a:t>
            </a:r>
          </a:p>
        </p:txBody>
      </p:sp>
      <p:sp>
        <p:nvSpPr>
          <p:cNvPr id="100283" name="TextBox 15"/>
          <p:cNvSpPr txBox="1"/>
          <p:nvPr/>
        </p:nvSpPr>
        <p:spPr>
          <a:xfrm xmlns:a="http://schemas.openxmlformats.org/drawingml/2006/main">
            <a:off x="8148000" y="2790000"/>
            <a:ext cx="2832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自由轉動指南北；紙、水、玻璃擋不住磁力。</a:t>
            </a:r>
          </a:p>
        </p:txBody>
      </p:sp>
      <p:sp>
        <p:nvSpPr>
          <p:cNvPr id="100284" name="TextBox 16"/>
          <p:cNvSpPr/>
          <p:nvPr/>
        </p:nvSpPr>
        <p:spPr>
          <a:xfrm xmlns:a="http://schemas.openxmlformats.org/drawingml/2006/main">
            <a:off x="972000" y="4140000"/>
            <a:ext cx="10224000" cy="165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41B13">
              <a:alpha val="84000"/>
            </a:srgbClr>
          </a:solidFill>
          <a:ln xmlns:a="http://schemas.openxmlformats.org/drawingml/2006/main" w="1016">
            <a:solidFill>
              <a:srgbClr val="B7A74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5" name="TextBox 17"/>
          <p:cNvSpPr txBox="1"/>
          <p:nvPr/>
        </p:nvSpPr>
        <p:spPr>
          <a:xfrm xmlns:a="http://schemas.openxmlformats.org/drawingml/2006/main">
            <a:off x="1296000" y="4266000"/>
            <a:ext cx="432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700" b="1">
                <a:solidFill>
                  <a:srgbClr val="B7A740"/>
                </a:solidFill>
                <a:latin typeface="源石黑體月 H"/>
                <a:ea typeface="源石黑體月 H"/>
              </a:rPr>
              <a:t>動手做：自製指南針</a:t>
            </a:r>
          </a:p>
        </p:txBody>
      </p:sp>
      <p:sp>
        <p:nvSpPr>
          <p:cNvPr id="100286" name="TextBox 18"/>
          <p:cNvSpPr txBox="1"/>
          <p:nvPr/>
        </p:nvSpPr>
        <p:spPr>
          <a:xfrm xmlns:a="http://schemas.openxmlformats.org/drawingml/2006/main">
            <a:off x="1296000" y="4644000"/>
            <a:ext cx="9576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① 用磁鐵同方向摩擦縫衣針 30 次　② 把針穿過小保麗龍片　③ 輕輕放在水面上　④ 等它停下來，針尖指的就是北方。</a:t>
            </a:r>
          </a:p>
          <a:p xmlns:a="http://schemas.openxmlformats.org/drawingml/2006/main">
            <a:pPr algn="l">
              <a:lnSpc>
                <a:spcPct val="135000"/>
              </a:lnSpc>
            </a:pPr>
            <a:r>
              <a:rPr lang="en-US" sz="1350">
                <a:solidFill>
                  <a:srgbClr val="C9BFA8"/>
                </a:solidFill>
                <a:latin typeface="源石黑體月 M"/>
                <a:ea typeface="源石黑體月 M"/>
              </a:rPr>
              <a:t>（提醒：附近不要放其他磁鐵，否則指針會亂轉。）</a:t>
            </a:r>
          </a:p>
        </p:txBody>
      </p:sp>
      <p:sp>
        <p:nvSpPr>
          <p:cNvPr id="100315" name="TextBox 19"/>
          <p:cNvSpPr txBox="1"/>
          <p:nvPr/>
        </p:nvSpPr>
        <p:spPr>
          <a:xfrm xmlns:a="http://schemas.openxmlformats.org/drawingml/2006/main">
            <a:off x="972000" y="6354000"/>
            <a:ext cx="64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磁鐵的性質與運用</a:t>
            </a:r>
          </a:p>
        </p:txBody>
      </p:sp>
      <p:sp>
        <p:nvSpPr>
          <p:cNvPr id="100316" name="TextBox 20"/>
          <p:cNvSpPr txBox="1"/>
          <p:nvPr/>
        </p:nvSpPr>
        <p:spPr>
          <a:xfrm xmlns:a="http://schemas.openxmlformats.org/drawingml/2006/main">
            <a:off x="9960120" y="6354000"/>
            <a:ext cx="12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950">
                <a:solidFill>
                  <a:srgbClr val="8C8271"/>
                </a:solidFill>
                <a:latin typeface="源石黑體月 M"/>
                <a:ea typeface="源石黑體月 M"/>
              </a:rPr>
              <a:t>15 / 15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新細明體"/>
        <a:cs typeface=""/>
      </a:majorFont>
      <a:minorFont>
        <a:latin typeface="Calibri"/>
        <a:ea typeface="新細明體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2026-10-23T03:32:11Z</dcterms:created>
  <cp:lastModifiedBy>OfficeCLI</cp:lastModifiedBy>
  <dcterms:modified xsi:type="dcterms:W3CDTF">2026-10-23T03:32:11Z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2026-10-23T03:32:13Z</vt:lpwstr>
  </op:property>
</op:Properties>
</file>